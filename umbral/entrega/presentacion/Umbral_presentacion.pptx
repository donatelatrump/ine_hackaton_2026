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r>
              <a:t>Datos agregados CCPC 2009–2024. Prototipo para revisión institucional. Fuentes primarias: https://ine.mx/transparencia/datos-abiertos/visualizacion-datos/conteos-censales-participacion/ Convocatoria: https://ine.mx/wp-content/uploads/2026/09/Convocatoria_Hackaton-1.pdf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r>
              <a:t>Guía: demo/README.md. Cartografía municipal y complemento insular INEGI 2025. Fuentes primarias: https://ine.mx/transparencia/datos-abiertos/visualizacion-datos/conteos-censales-participacion/ Convocatoria: https://ine.mx/wp-content/uploads/2026/09/Convocatoria_Hackaton-1.pdf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r>
              <a:t>Fuente: auditoría y base municipal del proyecto. CCPC: https://ine.mx/transparencia/datos-abiertos/visualizacion-datos/conteos-censales-participacion/ Fuentes primarias: https://ine.mx/transparencia/datos-abiertos/visualizacion-datos/conteos-censales-participacion/ Convocatoria: https://ine.mx/wp-content/uploads/2026/09/Convocatoria_Hackaton-1.pdf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r>
              <a:t>Fuente: modelado/PROTOCOLO_COMPARACION_4_MODELOS.md y salidas/comparacion_modelos/resultados.json. Fuentes primarias: https://ine.mx/transparencia/datos-abiertos/visualizacion-datos/conteos-censales-participacion/ Convocatoria: https://ine.mx/wp-content/uploads/2026/09/Convocatoria_Hackaton-1.pdf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r>
              <a:t>Media de 2021/2024 con igual peso por elección. Referencia adicional: MAE 8.88 pp. No valida 2027. Fuentes primarias: https://ine.mx/transparencia/datos-abiertos/visualizacion-datos/conteos-censales-participacion/ Convocatoria: https://ine.mx/wp-content/uploads/2026/09/Convocatoria_Hackaton-1.pdf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r>
              <a:t>DOI: 10.1017/S0007123424000504; 10.1007/s11109-026-10121-2; 10.1177/0956797609359326. Traslado a México: supuesto. Fuentes primarias: https://ine.mx/transparencia/datos-abiertos/visualizacion-datos/conteos-censales-participacion/ Convocatoria: https://ine.mx/wp-content/uploads/2026/09/Convocatoria_Hackaton-1.pdf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r>
              <a:t>Umbral y docs/PLANES_ACCION_ESTATALES_PARTICIPACION.md, sección 8. Propuestas por validar con el área usuaria. Fuentes primarias: https://ine.mx/transparencia/datos-abiertos/visualizacion-datos/conteos-censales-participacion/ Convocatoria: https://ine.mx/wp-content/uploads/2026/09/Convocatoria_Hackaton-1.pdf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r>
              <a:t>Fuente: entrega/caso_municipal.json. Modelo seleccionado del benchmark. SV+NV 2024: 255,362. DOI 10.1017/S0007123424000504. Fuentes primarias: https://ine.mx/transparencia/datos-abiertos/visualizacion-datos/conteos-censales-participacion/ Convocatoria: https://ine.mx/wp-content/uploads/2026/09/Convocatoria_Hackaton-1.pdf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r>
              <a:t>Caso completo: entrega/CASO_MUNICIPAL.md. Guion de cuatro bloques: entrega/GUION_PRESENTACION.md. Fuentes primarias: https://ine.mx/transparencia/datos-abiertos/visualizacion-datos/conteos-censales-participacion/ Convocatoria: https://ine.mx/wp-content/uploads/2026/09/Convocatoria_Hackaton-1.pdf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r>
              <a:t>https://github.com/Donatelatrump/Ine_Hackaton_2026 · Proyección 2027 exploratoria; efecto preventivo por evaluar. Fuentes primarias: https://ine.mx/transparencia/datos-abiertos/visualizacion-datos/conteos-censales-participacion/ Convocatoria: https://ine.mx/wp-content/uploads/2026/09/Convocatoria_Hackaton-1.pdf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>
  <p:cSld>
    <p:bg>
      <p:bgPr>
        <a:solidFill>
          <a:srgbClr val="F3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o editable"/>
          <p:cNvSpPr txBox="1"/>
          <p:nvPr/>
        </p:nvSpPr>
        <p:spPr>
          <a:xfrm>
            <a:off x="594360" y="320040"/>
            <a:ext cx="10972800" cy="259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0685F"/>
                </a:solidFill>
                <a:latin typeface="Segoe UI"/>
              </a:rPr>
              <a:t>UMBRAL · 01</a:t>
            </a:r>
          </a:p>
        </p:txBody>
      </p:sp>
      <p:sp>
        <p:nvSpPr>
          <p:cNvPr id="4" name="Texto editable"/>
          <p:cNvSpPr txBox="1"/>
          <p:nvPr/>
        </p:nvSpPr>
        <p:spPr>
          <a:xfrm>
            <a:off x="594360" y="822960"/>
            <a:ext cx="10972800" cy="754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400" b="1">
                <a:solidFill>
                  <a:srgbClr val="10685F"/>
                </a:solidFill>
                <a:latin typeface="Segoe UI"/>
              </a:rPr>
              <a:t>UMBRAL</a:t>
            </a:r>
          </a:p>
        </p:txBody>
      </p:sp>
      <p:sp>
        <p:nvSpPr>
          <p:cNvPr id="5" name="Texto editable"/>
          <p:cNvSpPr txBox="1"/>
          <p:nvPr/>
        </p:nvSpPr>
        <p:spPr>
          <a:xfrm>
            <a:off x="594360" y="2377440"/>
            <a:ext cx="10881360" cy="506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0685F"/>
                </a:solidFill>
                <a:latin typeface="Segoe UI"/>
              </a:rPr>
              <a:t>Atlas de decisión municipal</a:t>
            </a:r>
          </a:p>
        </p:txBody>
      </p:sp>
      <p:sp>
        <p:nvSpPr>
          <p:cNvPr id="6" name="Texto editable"/>
          <p:cNvSpPr txBox="1"/>
          <p:nvPr/>
        </p:nvSpPr>
        <p:spPr>
          <a:xfrm>
            <a:off x="594360" y="3012440"/>
            <a:ext cx="10881360" cy="4140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0">
                <a:solidFill>
                  <a:srgbClr val="15353B"/>
                </a:solidFill>
                <a:latin typeface="Segoe UI"/>
              </a:rPr>
              <a:t>Revisión territorial con evidencia, capacidad y supuestos visibles</a:t>
            </a:r>
          </a:p>
        </p:txBody>
      </p:sp>
      <p:sp>
        <p:nvSpPr>
          <p:cNvPr id="7" name="Texto editable"/>
          <p:cNvSpPr txBox="1"/>
          <p:nvPr/>
        </p:nvSpPr>
        <p:spPr>
          <a:xfrm>
            <a:off x="594360" y="3554476"/>
            <a:ext cx="10881360" cy="3520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15353B"/>
                </a:solidFill>
                <a:latin typeface="Segoe UI"/>
              </a:rPr>
              <a:t>aguas.exe · Hackathon INE 2026 · Track 2</a:t>
            </a:r>
          </a:p>
        </p:txBody>
      </p:sp>
      <p:sp>
        <p:nvSpPr>
          <p:cNvPr id="8" name="Texto editable"/>
          <p:cNvSpPr txBox="1"/>
          <p:nvPr/>
        </p:nvSpPr>
        <p:spPr>
          <a:xfrm>
            <a:off x="594360" y="4034536"/>
            <a:ext cx="10881360" cy="336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0">
                <a:solidFill>
                  <a:srgbClr val="15353B"/>
                </a:solidFill>
                <a:latin typeface="Segoe UI"/>
              </a:rPr>
              <a:t>Martin Isai Nuñez Villeda y Cesar Donnet Hernandez Gastelum</a:t>
            </a:r>
          </a:p>
        </p:txBody>
      </p:sp>
      <p:sp>
        <p:nvSpPr>
          <p:cNvPr id="9" name="Texto editable"/>
          <p:cNvSpPr txBox="1"/>
          <p:nvPr/>
        </p:nvSpPr>
        <p:spPr>
          <a:xfrm>
            <a:off x="594360" y="4499102"/>
            <a:ext cx="10881360" cy="336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0">
                <a:solidFill>
                  <a:srgbClr val="15353B"/>
                </a:solidFill>
                <a:latin typeface="Segoe UI"/>
              </a:rPr>
              <a:t>Versión técnica · 22 de octubre de 2026</a:t>
            </a:r>
          </a:p>
        </p:txBody>
      </p:sp>
      <p:sp>
        <p:nvSpPr>
          <p:cNvPr id="10" name="Texto editable"/>
          <p:cNvSpPr txBox="1"/>
          <p:nvPr/>
        </p:nvSpPr>
        <p:spPr>
          <a:xfrm>
            <a:off x="594360" y="6245352"/>
            <a:ext cx="10881360" cy="2280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587177"/>
                </a:solidFill>
                <a:latin typeface="Segoe UI"/>
              </a:rPr>
              <a:t>Datos agregados CCPC 2009–2024. Prototipo para revisión institucional.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>
    <p:bg>
      <p:bgPr>
        <a:solidFill>
          <a:srgbClr val="F3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o editable"/>
          <p:cNvSpPr txBox="1"/>
          <p:nvPr/>
        </p:nvSpPr>
        <p:spPr>
          <a:xfrm>
            <a:off x="594360" y="320040"/>
            <a:ext cx="10972800" cy="259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0685F"/>
                </a:solidFill>
                <a:latin typeface="Segoe UI"/>
              </a:rPr>
              <a:t>UMBRAL · 02</a:t>
            </a:r>
          </a:p>
        </p:txBody>
      </p:sp>
      <p:sp>
        <p:nvSpPr>
          <p:cNvPr id="4" name="Texto editable"/>
          <p:cNvSpPr txBox="1"/>
          <p:nvPr/>
        </p:nvSpPr>
        <p:spPr>
          <a:xfrm>
            <a:off x="594360" y="822960"/>
            <a:ext cx="10972800" cy="56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5353B"/>
                </a:solidFill>
                <a:latin typeface="Segoe UI"/>
              </a:rPr>
              <a:t>Consulta territorial en Umbral</a:t>
            </a:r>
          </a:p>
        </p:txBody>
      </p:sp>
      <p:sp>
        <p:nvSpPr>
          <p:cNvPr id="5" name="Texto editable"/>
          <p:cNvSpPr txBox="1"/>
          <p:nvPr/>
        </p:nvSpPr>
        <p:spPr>
          <a:xfrm>
            <a:off x="594360" y="1965960"/>
            <a:ext cx="10881360" cy="475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0685F"/>
                </a:solidFill>
                <a:latin typeface="Segoe UI"/>
              </a:rPr>
              <a:t>Municipio, estado o país</a:t>
            </a:r>
          </a:p>
        </p:txBody>
      </p:sp>
      <p:sp>
        <p:nvSpPr>
          <p:cNvPr id="6" name="Texto editable"/>
          <p:cNvSpPr txBox="1"/>
          <p:nvPr/>
        </p:nvSpPr>
        <p:spPr>
          <a:xfrm>
            <a:off x="594360" y="2569972"/>
            <a:ext cx="10881360" cy="723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100" b="0">
                <a:solidFill>
                  <a:srgbClr val="15353B"/>
                </a:solidFill>
                <a:latin typeface="Segoe UI"/>
              </a:rPr>
              <a:t>Un mismo año y método para el mapa, el resumen y la ficha. Los históricos muestran resultados observados y 2027 una proyección diferenciada.</a:t>
            </a:r>
          </a:p>
        </p:txBody>
      </p:sp>
      <p:sp>
        <p:nvSpPr>
          <p:cNvPr id="7" name="Texto editable"/>
          <p:cNvSpPr txBox="1"/>
          <p:nvPr/>
        </p:nvSpPr>
        <p:spPr>
          <a:xfrm>
            <a:off x="594360" y="3421888"/>
            <a:ext cx="10881360" cy="723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100" b="0">
                <a:solidFill>
                  <a:srgbClr val="15353B"/>
                </a:solidFill>
                <a:latin typeface="Segoe UI"/>
              </a:rPr>
              <a:t>Gráfica temporal y comparación con el promedio estatal, ponderados por personas con dato de voto.</a:t>
            </a:r>
          </a:p>
        </p:txBody>
      </p:sp>
      <p:sp>
        <p:nvSpPr>
          <p:cNvPr id="8" name="Texto editable"/>
          <p:cNvSpPr txBox="1"/>
          <p:nvPr/>
        </p:nvSpPr>
        <p:spPr>
          <a:xfrm>
            <a:off x="594360" y="4273804"/>
            <a:ext cx="10881360" cy="3985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100" b="0">
                <a:solidFill>
                  <a:srgbClr val="15353B"/>
                </a:solidFill>
                <a:latin typeface="Segoe UI"/>
              </a:rPr>
              <a:t>La consulta completa se descarga en CSV, aunque no se configure una intervención.</a:t>
            </a:r>
          </a:p>
        </p:txBody>
      </p:sp>
      <p:sp>
        <p:nvSpPr>
          <p:cNvPr id="9" name="Texto editable"/>
          <p:cNvSpPr txBox="1"/>
          <p:nvPr/>
        </p:nvSpPr>
        <p:spPr>
          <a:xfrm>
            <a:off x="594360" y="6245352"/>
            <a:ext cx="10881360" cy="2280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587177"/>
                </a:solidFill>
                <a:latin typeface="Segoe UI"/>
              </a:rPr>
              <a:t>Guía: demo/README.md. Cartografía municipal y complemento insular INEGI 2025.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>
  <p:cSld>
    <p:bg>
      <p:bgPr>
        <a:solidFill>
          <a:srgbClr val="F3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o editable"/>
          <p:cNvSpPr txBox="1"/>
          <p:nvPr/>
        </p:nvSpPr>
        <p:spPr>
          <a:xfrm>
            <a:off x="594360" y="320040"/>
            <a:ext cx="10972800" cy="259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0685F"/>
                </a:solidFill>
                <a:latin typeface="Segoe UI"/>
              </a:rPr>
              <a:t>UMBRAL · 03</a:t>
            </a:r>
          </a:p>
        </p:txBody>
      </p:sp>
      <p:sp>
        <p:nvSpPr>
          <p:cNvPr id="4" name="Texto editable"/>
          <p:cNvSpPr txBox="1"/>
          <p:nvPr/>
        </p:nvSpPr>
        <p:spPr>
          <a:xfrm>
            <a:off x="594360" y="822960"/>
            <a:ext cx="10972800" cy="56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5353B"/>
                </a:solidFill>
                <a:latin typeface="Segoe UI"/>
              </a:rPr>
              <a:t>Cobertura y calidad visibles</a:t>
            </a:r>
          </a:p>
        </p:txBody>
      </p:sp>
      <p:sp>
        <p:nvSpPr>
          <p:cNvPr id="5" name="Texto editable"/>
          <p:cNvSpPr txBox="1"/>
          <p:nvPr/>
        </p:nvSpPr>
        <p:spPr>
          <a:xfrm>
            <a:off x="594360" y="1965960"/>
            <a:ext cx="10881360" cy="6309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10685F"/>
                </a:solidFill>
                <a:latin typeface="Segoe UI"/>
              </a:rPr>
              <a:t>1,783 con estimación</a:t>
            </a:r>
          </a:p>
        </p:txBody>
      </p:sp>
      <p:sp>
        <p:nvSpPr>
          <p:cNvPr id="6" name="Texto editable"/>
          <p:cNvSpPr txBox="1"/>
          <p:nvPr/>
        </p:nvSpPr>
        <p:spPr>
          <a:xfrm>
            <a:off x="594360" y="2724912"/>
            <a:ext cx="10881360" cy="4450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0685F"/>
                </a:solidFill>
                <a:latin typeface="Segoe UI"/>
              </a:rPr>
              <a:t>694 sin estimación · 2,477 claves históricas</a:t>
            </a:r>
          </a:p>
        </p:txBody>
      </p:sp>
      <p:sp>
        <p:nvSpPr>
          <p:cNvPr id="7" name="Texto editable"/>
          <p:cNvSpPr txBox="1"/>
          <p:nvPr/>
        </p:nvSpPr>
        <p:spPr>
          <a:xfrm>
            <a:off x="594360" y="3297936"/>
            <a:ext cx="10881360" cy="4450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0685F"/>
                </a:solidFill>
                <a:latin typeface="Segoe UI"/>
              </a:rPr>
              <a:t>Abstención observada = 100 × NV / (SV + NV)</a:t>
            </a:r>
          </a:p>
        </p:txBody>
      </p:sp>
      <p:sp>
        <p:nvSpPr>
          <p:cNvPr id="8" name="Texto editable"/>
          <p:cNvSpPr txBox="1"/>
          <p:nvPr/>
        </p:nvSpPr>
        <p:spPr>
          <a:xfrm>
            <a:off x="594360" y="3870960"/>
            <a:ext cx="10881360" cy="692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0">
                <a:solidFill>
                  <a:srgbClr val="15353B"/>
                </a:solidFill>
                <a:latin typeface="Segoe UI"/>
              </a:rPr>
              <a:t>NS identifica participación no especificada. La regla principal exige NS ≤10% en ambos antecedentes relevantes.</a:t>
            </a:r>
          </a:p>
        </p:txBody>
      </p:sp>
      <p:sp>
        <p:nvSpPr>
          <p:cNvPr id="9" name="Texto editable"/>
          <p:cNvSpPr txBox="1"/>
          <p:nvPr/>
        </p:nvSpPr>
        <p:spPr>
          <a:xfrm>
            <a:off x="594360" y="4691888"/>
            <a:ext cx="10881360" cy="692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0">
                <a:solidFill>
                  <a:srgbClr val="15353B"/>
                </a:solidFill>
                <a:latin typeface="Segoe UI"/>
              </a:rPr>
              <a:t>El catálogo constante orienta la revisión territorial. Falta comprobar equivalencia de límites históricos.</a:t>
            </a:r>
          </a:p>
        </p:txBody>
      </p:sp>
      <p:sp>
        <p:nvSpPr>
          <p:cNvPr id="10" name="Texto editable"/>
          <p:cNvSpPr txBox="1"/>
          <p:nvPr/>
        </p:nvSpPr>
        <p:spPr>
          <a:xfrm>
            <a:off x="594360" y="6245352"/>
            <a:ext cx="10881360" cy="2280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587177"/>
                </a:solidFill>
                <a:latin typeface="Segoe UI"/>
              </a:rPr>
              <a:t>Fuente: auditoría y base municipal del proyecto. CCPC: https://ine.mx/transparencia/datos-abiertos/visualizacion-datos/conteos-censales-participacion/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>
  <p:cSld>
    <p:bg>
      <p:bgPr>
        <a:solidFill>
          <a:srgbClr val="F3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o editable"/>
          <p:cNvSpPr txBox="1"/>
          <p:nvPr/>
        </p:nvSpPr>
        <p:spPr>
          <a:xfrm>
            <a:off x="594360" y="320040"/>
            <a:ext cx="10972800" cy="259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0685F"/>
                </a:solidFill>
                <a:latin typeface="Segoe UI"/>
              </a:rPr>
              <a:t>UMBRAL · 04</a:t>
            </a:r>
          </a:p>
        </p:txBody>
      </p:sp>
      <p:sp>
        <p:nvSpPr>
          <p:cNvPr id="4" name="Texto editable"/>
          <p:cNvSpPr txBox="1"/>
          <p:nvPr/>
        </p:nvSpPr>
        <p:spPr>
          <a:xfrm>
            <a:off x="594360" y="822960"/>
            <a:ext cx="10972800" cy="56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5353B"/>
                </a:solidFill>
                <a:latin typeface="Segoe UI"/>
              </a:rPr>
              <a:t>Cuatro modelos, una comparación temporal</a:t>
            </a:r>
          </a:p>
        </p:txBody>
      </p:sp>
      <p:sp>
        <p:nvSpPr>
          <p:cNvPr id="5" name="Texto editable"/>
          <p:cNvSpPr txBox="1"/>
          <p:nvPr/>
        </p:nvSpPr>
        <p:spPr>
          <a:xfrm>
            <a:off x="594360" y="1965960"/>
            <a:ext cx="10881360" cy="46050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0685F"/>
                </a:solidFill>
                <a:latin typeface="Segoe UI"/>
              </a:rPr>
              <a:t>Misma cohorte y 15 variables históricas</a:t>
            </a:r>
          </a:p>
        </p:txBody>
      </p:sp>
      <p:sp>
        <p:nvSpPr>
          <p:cNvPr id="6" name="Texto editable"/>
          <p:cNvSpPr txBox="1"/>
          <p:nvPr/>
        </p:nvSpPr>
        <p:spPr>
          <a:xfrm>
            <a:off x="594360" y="2554478"/>
            <a:ext cx="10881360" cy="723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100" b="0">
                <a:solidFill>
                  <a:srgbClr val="15353B"/>
                </a:solidFill>
                <a:latin typeface="Segoe UI"/>
              </a:rPr>
              <a:t>Ridge, HistGradientBoosting, LightGBM y CatBoost aprenden el residual respecto a la referencia homóloga.</a:t>
            </a:r>
          </a:p>
        </p:txBody>
      </p:sp>
      <p:sp>
        <p:nvSpPr>
          <p:cNvPr id="7" name="Texto editable"/>
          <p:cNvSpPr txBox="1"/>
          <p:nvPr/>
        </p:nvSpPr>
        <p:spPr>
          <a:xfrm>
            <a:off x="594360" y="3406394"/>
            <a:ext cx="10881360" cy="723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100" b="0">
                <a:solidFill>
                  <a:srgbClr val="15353B"/>
                </a:solidFill>
                <a:latin typeface="Segoe UI"/>
              </a:rPr>
              <a:t>Los parámetros se eligen con años anteriores al corte evaluado. Sin parada temprana sobre 2021 o 2024.</a:t>
            </a:r>
          </a:p>
        </p:txBody>
      </p:sp>
      <p:sp>
        <p:nvSpPr>
          <p:cNvPr id="8" name="Texto editable"/>
          <p:cNvSpPr txBox="1"/>
          <p:nvPr/>
        </p:nvSpPr>
        <p:spPr>
          <a:xfrm>
            <a:off x="594360" y="4258310"/>
            <a:ext cx="10881360" cy="3985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100" b="0">
                <a:solidFill>
                  <a:srgbClr val="15353B"/>
                </a:solidFill>
                <a:latin typeface="Segoe UI"/>
              </a:rPr>
              <a:t>Protocolo previo, cuatro configuraciones por familia, semilla 42 y un hilo de CPU.</a:t>
            </a:r>
          </a:p>
        </p:txBody>
      </p:sp>
      <p:sp>
        <p:nvSpPr>
          <p:cNvPr id="9" name="Texto editable"/>
          <p:cNvSpPr txBox="1"/>
          <p:nvPr/>
        </p:nvSpPr>
        <p:spPr>
          <a:xfrm>
            <a:off x="594360" y="6245352"/>
            <a:ext cx="10881360" cy="2280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587177"/>
                </a:solidFill>
                <a:latin typeface="Segoe UI"/>
              </a:rPr>
              <a:t>Fuente: modelado/PROTOCOLO_COMPARACION_4_MODELOS.md y salidas/comparacion_modelos/resultados.json.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>
  <p:cSld>
    <p:bg>
      <p:bgPr>
        <a:solidFill>
          <a:srgbClr val="F3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o editable"/>
          <p:cNvSpPr txBox="1"/>
          <p:nvPr/>
        </p:nvSpPr>
        <p:spPr>
          <a:xfrm>
            <a:off x="594360" y="320040"/>
            <a:ext cx="10972800" cy="259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0685F"/>
                </a:solidFill>
                <a:latin typeface="Segoe UI"/>
              </a:rPr>
              <a:t>UMBRAL · 05</a:t>
            </a:r>
          </a:p>
        </p:txBody>
      </p:sp>
      <p:sp>
        <p:nvSpPr>
          <p:cNvPr id="4" name="Texto editable"/>
          <p:cNvSpPr txBox="1"/>
          <p:nvPr/>
        </p:nvSpPr>
        <p:spPr>
          <a:xfrm>
            <a:off x="594360" y="822960"/>
            <a:ext cx="10972800" cy="56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5353B"/>
                </a:solidFill>
                <a:latin typeface="Segoe UI"/>
              </a:rPr>
              <a:t>HistGradientBoosting seleccionado</a:t>
            </a:r>
          </a:p>
        </p:txBody>
      </p:sp>
      <p:graphicFrame>
        <p:nvGraphicFramePr>
          <p:cNvPr id="5" name="Table 3"/>
          <p:cNvGraphicFramePr>
            <a:graphicFrameLocks noGrp="1"/>
          </p:cNvGraphicFramePr>
          <p:nvPr/>
        </p:nvGraphicFramePr>
        <p:xfrm>
          <a:off x="594360" y="182880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828800"/>
                <a:gridCol w="1828800"/>
                <a:gridCol w="1828800"/>
                <a:gridCol w="1828800"/>
              </a:tblGrid>
              <a:tr h="475488">
                <a:tc>
                  <a:txBody>
                    <a:bodyPr/>
                    <a:lstStyle/>
                    <a:p>
                      <a:pPr>
                        <a:defRPr sz="2000" b="1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Modelo</a:t>
                      </a:r>
                    </a:p>
                  </a:txBody>
                  <a:tcPr>
                    <a:solidFill>
                      <a:srgbClr val="E5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1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MAE medio</a:t>
                      </a:r>
                    </a:p>
                  </a:txBody>
                  <a:tcPr>
                    <a:solidFill>
                      <a:srgbClr val="E5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1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Ponderado</a:t>
                      </a:r>
                    </a:p>
                  </a:txBody>
                  <a:tcPr>
                    <a:solidFill>
                      <a:srgbClr val="E5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1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Top50 medio</a:t>
                      </a:r>
                    </a:p>
                  </a:txBody>
                  <a:tcPr>
                    <a:solidFill>
                      <a:srgbClr val="E5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1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Ajustar ms</a:t>
                      </a:r>
                    </a:p>
                  </a:txBody>
                  <a:tcPr>
                    <a:solidFill>
                      <a:srgbClr val="E5EE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HistGradientBoosting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6.84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4.67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20.0/50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199.6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LightGBM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6.83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4.84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21.0/50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126.6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CatBoost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6.91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4.67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20.5/50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1045.2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Ridge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9.01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5.22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20.0/50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12.8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</a:tr>
            </a:tbl>
          </a:graphicData>
        </a:graphic>
      </p:graphicFrame>
      <p:sp>
        <p:nvSpPr>
          <p:cNvPr id="6" name="Texto editable"/>
          <p:cNvSpPr txBox="1"/>
          <p:nvPr/>
        </p:nvSpPr>
        <p:spPr>
          <a:xfrm>
            <a:off x="594360" y="4526280"/>
            <a:ext cx="10972800" cy="46050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0685F"/>
                </a:solidFill>
                <a:latin typeface="Segoe UI"/>
              </a:rPr>
              <a:t>MAE medio 24.1% menor que Ridge.</a:t>
            </a:r>
          </a:p>
        </p:txBody>
      </p:sp>
      <p:sp>
        <p:nvSpPr>
          <p:cNvPr id="7" name="Texto editable"/>
          <p:cNvSpPr txBox="1"/>
          <p:nvPr/>
        </p:nvSpPr>
        <p:spPr>
          <a:xfrm>
            <a:off x="594360" y="5029200"/>
            <a:ext cx="10972800" cy="6619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0">
                <a:solidFill>
                  <a:srgbClr val="15353B"/>
                </a:solidFill>
                <a:latin typeface="Segoe UI"/>
              </a:rPr>
              <a:t>Desempate por error ponderado (tolerancia MAE: 0.05 pp). Ridge es el más rápido. Selección retrospectiva.</a:t>
            </a:r>
          </a:p>
        </p:txBody>
      </p:sp>
      <p:sp>
        <p:nvSpPr>
          <p:cNvPr id="8" name="Texto editable"/>
          <p:cNvSpPr txBox="1"/>
          <p:nvPr/>
        </p:nvSpPr>
        <p:spPr>
          <a:xfrm>
            <a:off x="594360" y="5650992"/>
            <a:ext cx="10972800" cy="336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0">
                <a:solidFill>
                  <a:srgbClr val="15353B"/>
                </a:solidFill>
                <a:latin typeface="Segoe UI"/>
              </a:rPr>
              <a:t>Top50 en 2024: referencia 27/50; modelo 19/50. Menor error no garantiza mejor priorización.</a:t>
            </a:r>
          </a:p>
        </p:txBody>
      </p:sp>
      <p:sp>
        <p:nvSpPr>
          <p:cNvPr id="9" name="Texto editable"/>
          <p:cNvSpPr txBox="1"/>
          <p:nvPr/>
        </p:nvSpPr>
        <p:spPr>
          <a:xfrm>
            <a:off x="594360" y="6245352"/>
            <a:ext cx="10881360" cy="2280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587177"/>
                </a:solidFill>
                <a:latin typeface="Segoe UI"/>
              </a:rPr>
              <a:t>Media de 2021/2024 con igual peso por elección. Referencia adicional: MAE 8.88 pp. No valida 2027.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>
  <p:cSld>
    <p:bg>
      <p:bgPr>
        <a:solidFill>
          <a:srgbClr val="F3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o editable"/>
          <p:cNvSpPr txBox="1"/>
          <p:nvPr/>
        </p:nvSpPr>
        <p:spPr>
          <a:xfrm>
            <a:off x="594360" y="320040"/>
            <a:ext cx="10972800" cy="259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0685F"/>
                </a:solidFill>
                <a:latin typeface="Segoe UI"/>
              </a:rPr>
              <a:t>UMBRAL · 06</a:t>
            </a:r>
          </a:p>
        </p:txBody>
      </p:sp>
      <p:sp>
        <p:nvSpPr>
          <p:cNvPr id="4" name="Texto editable"/>
          <p:cNvSpPr txBox="1"/>
          <p:nvPr/>
        </p:nvSpPr>
        <p:spPr>
          <a:xfrm>
            <a:off x="594360" y="822960"/>
            <a:ext cx="10972800" cy="56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5353B"/>
                </a:solidFill>
                <a:latin typeface="Segoe UI"/>
              </a:rPr>
              <a:t>Evidencia externa y escenario territorial</a:t>
            </a:r>
          </a:p>
        </p:txBody>
      </p:sp>
      <p:sp>
        <p:nvSpPr>
          <p:cNvPr id="5" name="Texto editable"/>
          <p:cNvSpPr txBox="1"/>
          <p:nvPr/>
        </p:nvSpPr>
        <p:spPr>
          <a:xfrm>
            <a:off x="594360" y="1965960"/>
            <a:ext cx="10881360" cy="46050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0685F"/>
                </a:solidFill>
                <a:latin typeface="Segoe UI"/>
              </a:rPr>
              <a:t>Acción y coeficiente publicado</a:t>
            </a:r>
          </a:p>
        </p:txBody>
      </p:sp>
      <p:sp>
        <p:nvSpPr>
          <p:cNvPr id="6" name="Texto editable"/>
          <p:cNvSpPr txBox="1"/>
          <p:nvPr/>
        </p:nvSpPr>
        <p:spPr>
          <a:xfrm>
            <a:off x="594360" y="2554478"/>
            <a:ext cx="10881360" cy="692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0">
                <a:solidFill>
                  <a:srgbClr val="15353B"/>
                </a:solidFill>
                <a:latin typeface="Segoe UI"/>
              </a:rPr>
              <a:t>SMS Suecia: +0.30 pp ITT, intervalo 0.13–0.48. SMS EEUU: +0.25 pp ITT, intervalo 0.17–0.34. Llamada: +4.1 pp ATT, error estándar 1.7.</a:t>
            </a:r>
          </a:p>
        </p:txBody>
      </p:sp>
      <p:sp>
        <p:nvSpPr>
          <p:cNvPr id="7" name="Texto editable"/>
          <p:cNvSpPr txBox="1"/>
          <p:nvPr/>
        </p:nvSpPr>
        <p:spPr>
          <a:xfrm>
            <a:off x="594360" y="3375406"/>
            <a:ext cx="10881360" cy="10492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100" b="0">
                <a:solidFill>
                  <a:srgbClr val="15353B"/>
                </a:solidFill>
                <a:latin typeface="Segoe UI"/>
              </a:rPr>
              <a:t>Votos adicionales hipotéticos = cobertura × coeficiente / 100, limitados por abstención esperada entre cubiertos. El coeficiente ya mide cambio en participación, sin otra tasa de respuesta.</a:t>
            </a:r>
          </a:p>
        </p:txBody>
      </p:sp>
      <p:sp>
        <p:nvSpPr>
          <p:cNvPr id="8" name="Texto editable"/>
          <p:cNvSpPr txBox="1"/>
          <p:nvPr/>
        </p:nvSpPr>
        <p:spPr>
          <a:xfrm>
            <a:off x="594360" y="4552696"/>
            <a:ext cx="10881360" cy="692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0">
                <a:solidFill>
                  <a:srgbClr val="15353B"/>
                </a:solidFill>
                <a:latin typeface="Segoe UI"/>
              </a:rPr>
              <a:t>La comparación conserva todo el territorio estimable, incluso municipios sin atención. Umbrales base fijos y ponderación SV+NV 2024.</a:t>
            </a:r>
          </a:p>
        </p:txBody>
      </p:sp>
      <p:sp>
        <p:nvSpPr>
          <p:cNvPr id="9" name="Texto editable"/>
          <p:cNvSpPr txBox="1"/>
          <p:nvPr/>
        </p:nvSpPr>
        <p:spPr>
          <a:xfrm>
            <a:off x="594360" y="6245352"/>
            <a:ext cx="10881360" cy="2280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587177"/>
                </a:solidFill>
                <a:latin typeface="Segoe UI"/>
              </a:rPr>
              <a:t>DOI: 10.1017/S0007123424000504; 10.1007/s11109-026-10121-2; 10.1177/0956797609359326. Traslado a México: supuesto.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>
  <p:cSld>
    <p:bg>
      <p:bgPr>
        <a:solidFill>
          <a:srgbClr val="F3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o editable"/>
          <p:cNvSpPr txBox="1"/>
          <p:nvPr/>
        </p:nvSpPr>
        <p:spPr>
          <a:xfrm>
            <a:off x="594360" y="320040"/>
            <a:ext cx="10972800" cy="259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0685F"/>
                </a:solidFill>
                <a:latin typeface="Segoe UI"/>
              </a:rPr>
              <a:t>UMBRAL · 07</a:t>
            </a:r>
          </a:p>
        </p:txBody>
      </p:sp>
      <p:sp>
        <p:nvSpPr>
          <p:cNvPr id="4" name="Texto editable"/>
          <p:cNvSpPr txBox="1"/>
          <p:nvPr/>
        </p:nvSpPr>
        <p:spPr>
          <a:xfrm>
            <a:off x="594360" y="822960"/>
            <a:ext cx="10972800" cy="56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5353B"/>
                </a:solidFill>
                <a:latin typeface="Segoe UI"/>
              </a:rPr>
              <a:t>Plan estatal y semáforo en Umbral</a:t>
            </a:r>
          </a:p>
        </p:txBody>
      </p:sp>
      <p:sp>
        <p:nvSpPr>
          <p:cNvPr id="5" name="Texto editable"/>
          <p:cNvSpPr txBox="1"/>
          <p:nvPr/>
        </p:nvSpPr>
        <p:spPr>
          <a:xfrm>
            <a:off x="594360" y="1965960"/>
            <a:ext cx="10881360" cy="46050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0685F"/>
                </a:solidFill>
                <a:latin typeface="Segoe UI"/>
              </a:rPr>
              <a:t>Plan estatal con cálculo de referencia</a:t>
            </a:r>
          </a:p>
        </p:txBody>
      </p:sp>
      <p:sp>
        <p:nvSpPr>
          <p:cNvPr id="6" name="Texto editable"/>
          <p:cNvSpPr txBox="1"/>
          <p:nvPr/>
        </p:nvSpPr>
        <p:spPr>
          <a:xfrm>
            <a:off x="594360" y="2554478"/>
            <a:ext cx="10881360" cy="723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100" b="0">
                <a:solidFill>
                  <a:srgbClr val="15353B"/>
                </a:solidFill>
                <a:latin typeface="Segoe UI"/>
              </a:rPr>
              <a:t>Cobertura fija del 10%; efecto supuesto de 1.5 pp entre alcanzados. El simulador separado permite explorar acciones. No es eficacia medida del plan.</a:t>
            </a:r>
          </a:p>
        </p:txBody>
      </p:sp>
      <p:sp>
        <p:nvSpPr>
          <p:cNvPr id="7" name="Texto editable"/>
          <p:cNvSpPr txBox="1"/>
          <p:nvPr/>
        </p:nvSpPr>
        <p:spPr>
          <a:xfrm>
            <a:off x="594360" y="3406394"/>
            <a:ext cx="10881360" cy="723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100" b="0">
                <a:solidFill>
                  <a:srgbClr val="15353B"/>
                </a:solidFill>
                <a:latin typeface="Segoe UI"/>
              </a:rPr>
              <a:t>Mapas sin/con acción con cortes nacionales fijos por tercios: bajo, medio y alto. Gris significa sin estimación; nunca cero.</a:t>
            </a:r>
          </a:p>
        </p:txBody>
      </p:sp>
      <p:sp>
        <p:nvSpPr>
          <p:cNvPr id="8" name="Texto editable"/>
          <p:cNvSpPr txBox="1"/>
          <p:nvPr/>
        </p:nvSpPr>
        <p:spPr>
          <a:xfrm>
            <a:off x="594360" y="4258310"/>
            <a:ext cx="10881360" cy="723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100" b="0">
                <a:solidFill>
                  <a:srgbClr val="15353B"/>
                </a:solidFill>
                <a:latin typeface="Segoe UI"/>
              </a:rPr>
              <a:t>Distribución proporcional; CSV con tasas antes/después, semáforo, cobertura, método y fuentes. La vista de diferencias muestra cambios pequeños.</a:t>
            </a:r>
          </a:p>
        </p:txBody>
      </p:sp>
      <p:sp>
        <p:nvSpPr>
          <p:cNvPr id="9" name="Texto editable"/>
          <p:cNvSpPr txBox="1"/>
          <p:nvPr/>
        </p:nvSpPr>
        <p:spPr>
          <a:xfrm>
            <a:off x="594360" y="6245352"/>
            <a:ext cx="10881360" cy="2280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587177"/>
                </a:solidFill>
                <a:latin typeface="Segoe UI"/>
              </a:rPr>
              <a:t>Umbral y docs/PLANES_ACCION_ESTATALES_PARTICIPACION.md, sección 8. Propuestas por validar con el área usuaria.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>
  <p:cSld>
    <p:bg>
      <p:bgPr>
        <a:solidFill>
          <a:srgbClr val="F3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o editable"/>
          <p:cNvSpPr txBox="1"/>
          <p:nvPr/>
        </p:nvSpPr>
        <p:spPr>
          <a:xfrm>
            <a:off x="594360" y="320040"/>
            <a:ext cx="10972800" cy="259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0685F"/>
                </a:solidFill>
                <a:latin typeface="Segoe UI"/>
              </a:rPr>
              <a:t>UMBRAL · 08</a:t>
            </a:r>
          </a:p>
        </p:txBody>
      </p:sp>
      <p:sp>
        <p:nvSpPr>
          <p:cNvPr id="4" name="Texto editable"/>
          <p:cNvSpPr txBox="1"/>
          <p:nvPr/>
        </p:nvSpPr>
        <p:spPr>
          <a:xfrm>
            <a:off x="594360" y="822960"/>
            <a:ext cx="10972800" cy="56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5353B"/>
                </a:solidFill>
                <a:latin typeface="Segoe UI"/>
              </a:rPr>
              <a:t>Caso 23008: SMS con traslado hipotético</a:t>
            </a:r>
          </a:p>
        </p:txBody>
      </p:sp>
      <p:sp>
        <p:nvSpPr>
          <p:cNvPr id="5" name="Texto editable"/>
          <p:cNvSpPr txBox="1"/>
          <p:nvPr/>
        </p:nvSpPr>
        <p:spPr>
          <a:xfrm>
            <a:off x="594360" y="1965960"/>
            <a:ext cx="10881360" cy="4450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0685F"/>
                </a:solidFill>
                <a:latin typeface="Segoe UI"/>
              </a:rPr>
              <a:t>SOLIDARIDAD · catálogo histórico de Quintana Roo</a:t>
            </a:r>
          </a:p>
        </p:txBody>
      </p:sp>
      <p:sp>
        <p:nvSpPr>
          <p:cNvPr id="6" name="Texto editable"/>
          <p:cNvSpPr txBox="1"/>
          <p:nvPr/>
        </p:nvSpPr>
        <p:spPr>
          <a:xfrm>
            <a:off x="594360" y="2538984"/>
            <a:ext cx="10881360" cy="723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100" b="0">
                <a:solidFill>
                  <a:srgbClr val="15353B"/>
                </a:solidFill>
                <a:latin typeface="Segoe UI"/>
              </a:rPr>
              <a:t>HistGradientBoosting, puesto 9; referencia 3. Base 61.636222%. Frecuencia nacional top50 4/6.</a:t>
            </a:r>
          </a:p>
        </p:txBody>
      </p:sp>
      <p:sp>
        <p:nvSpPr>
          <p:cNvPr id="7" name="Texto editable"/>
          <p:cNvSpPr txBox="1"/>
          <p:nvPr/>
        </p:nvSpPr>
        <p:spPr>
          <a:xfrm>
            <a:off x="594360" y="3390900"/>
            <a:ext cx="10881360" cy="754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0">
                <a:solidFill>
                  <a:srgbClr val="15353B"/>
                </a:solidFill>
                <a:latin typeface="Segoe UI"/>
              </a:rPr>
              <a:t>1,000 personas asignadas a SMS Suecia: 3 votos adicionales hipotéticos; rango externo 1.3–4.8.</a:t>
            </a:r>
          </a:p>
        </p:txBody>
      </p:sp>
      <p:sp>
        <p:nvSpPr>
          <p:cNvPr id="8" name="Texto editable"/>
          <p:cNvSpPr txBox="1"/>
          <p:nvPr/>
        </p:nvSpPr>
        <p:spPr>
          <a:xfrm>
            <a:off x="594360" y="4273804"/>
            <a:ext cx="10881360" cy="3985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100" b="0">
                <a:solidFill>
                  <a:srgbClr val="15353B"/>
                </a:solidFill>
                <a:latin typeface="Segoe UI"/>
              </a:rPr>
              <a:t>Posterior 61.635048%. Reducción 0.001175 pp. Traslado a México sujeto a evaluación.</a:t>
            </a:r>
          </a:p>
        </p:txBody>
      </p:sp>
      <p:sp>
        <p:nvSpPr>
          <p:cNvPr id="9" name="Texto editable"/>
          <p:cNvSpPr txBox="1"/>
          <p:nvPr/>
        </p:nvSpPr>
        <p:spPr>
          <a:xfrm>
            <a:off x="594360" y="6245352"/>
            <a:ext cx="10881360" cy="2280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587177"/>
                </a:solidFill>
                <a:latin typeface="Segoe UI"/>
              </a:rPr>
              <a:t>Fuente: entrega/caso_municipal.json. Modelo seleccionado del benchmark. SV+NV 2024: 255,362. DOI 10.1017/S0007123424000504.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>
  <p:cSld>
    <p:bg>
      <p:bgPr>
        <a:solidFill>
          <a:srgbClr val="F3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o editable"/>
          <p:cNvSpPr txBox="1"/>
          <p:nvPr/>
        </p:nvSpPr>
        <p:spPr>
          <a:xfrm>
            <a:off x="594360" y="320040"/>
            <a:ext cx="10972800" cy="259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0685F"/>
                </a:solidFill>
                <a:latin typeface="Segoe UI"/>
              </a:rPr>
              <a:t>UMBRAL · 09</a:t>
            </a:r>
          </a:p>
        </p:txBody>
      </p:sp>
      <p:sp>
        <p:nvSpPr>
          <p:cNvPr id="4" name="Texto editable"/>
          <p:cNvSpPr txBox="1"/>
          <p:nvPr/>
        </p:nvSpPr>
        <p:spPr>
          <a:xfrm>
            <a:off x="594360" y="822960"/>
            <a:ext cx="10972800" cy="56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5353B"/>
                </a:solidFill>
                <a:latin typeface="Segoe UI"/>
              </a:rPr>
              <a:t>De la ficha a un plan verificable</a:t>
            </a:r>
          </a:p>
        </p:txBody>
      </p:sp>
      <p:sp>
        <p:nvSpPr>
          <p:cNvPr id="5" name="Texto editable"/>
          <p:cNvSpPr txBox="1"/>
          <p:nvPr/>
        </p:nvSpPr>
        <p:spPr>
          <a:xfrm>
            <a:off x="594360" y="1965960"/>
            <a:ext cx="10881360" cy="46050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0685F"/>
                </a:solidFill>
                <a:latin typeface="Segoe UI"/>
              </a:rPr>
              <a:t>Recursos, condiciones y medición</a:t>
            </a:r>
          </a:p>
        </p:txBody>
      </p:sp>
      <p:sp>
        <p:nvSpPr>
          <p:cNvPr id="6" name="Texto editable"/>
          <p:cNvSpPr txBox="1"/>
          <p:nvPr/>
        </p:nvSpPr>
        <p:spPr>
          <a:xfrm>
            <a:off x="594360" y="2554478"/>
            <a:ext cx="10881360" cy="723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100" b="0">
                <a:solidFill>
                  <a:srgbClr val="15353B"/>
                </a:solidFill>
                <a:latin typeface="Segoe UI"/>
              </a:rPr>
              <a:t>Definir prioridad y cobertura; exportar territorio, acción, fuente, distribución y supuestos. Revisar la estabilidad por separado.</a:t>
            </a:r>
          </a:p>
        </p:txBody>
      </p:sp>
      <p:sp>
        <p:nvSpPr>
          <p:cNvPr id="7" name="Texto editable"/>
          <p:cNvSpPr txBox="1"/>
          <p:nvPr/>
        </p:nvSpPr>
        <p:spPr>
          <a:xfrm>
            <a:off x="594360" y="3406394"/>
            <a:ext cx="10881360" cy="723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100" b="0">
                <a:solidFill>
                  <a:srgbClr val="15353B"/>
                </a:solidFill>
                <a:latin typeface="Segoe UI"/>
              </a:rPr>
              <a:t>Registrar alcance único agregado, horas y conocimiento previo/posterior. El perfil por edad describe grupos agregados y no demuestra barreras.</a:t>
            </a:r>
          </a:p>
        </p:txBody>
      </p:sp>
      <p:sp>
        <p:nvSpPr>
          <p:cNvPr id="8" name="Texto editable"/>
          <p:cNvSpPr txBox="1"/>
          <p:nvPr/>
        </p:nvSpPr>
        <p:spPr>
          <a:xfrm>
            <a:off x="594360" y="4258310"/>
            <a:ext cx="10881360" cy="723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100" b="0">
                <a:solidFill>
                  <a:srgbClr val="15353B"/>
                </a:solidFill>
                <a:latin typeface="Segoe UI"/>
              </a:rPr>
              <a:t>Validar límites, sedes y atribuciones. Un efecto sobre participación requiere evaluación comparativa y protocolo previo.</a:t>
            </a:r>
          </a:p>
        </p:txBody>
      </p:sp>
      <p:sp>
        <p:nvSpPr>
          <p:cNvPr id="9" name="Texto editable"/>
          <p:cNvSpPr txBox="1"/>
          <p:nvPr/>
        </p:nvSpPr>
        <p:spPr>
          <a:xfrm>
            <a:off x="594360" y="6245352"/>
            <a:ext cx="10881360" cy="2280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587177"/>
                </a:solidFill>
                <a:latin typeface="Segoe UI"/>
              </a:rPr>
              <a:t>Caso completo: entrega/CASO_MUNICIPAL.md. Guion de cuatro bloques: entrega/GUION_PRESENTACION.md.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>
  <p:cSld>
    <p:bg>
      <p:bgPr>
        <a:solidFill>
          <a:srgbClr val="F3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o editable"/>
          <p:cNvSpPr txBox="1"/>
          <p:nvPr/>
        </p:nvSpPr>
        <p:spPr>
          <a:xfrm>
            <a:off x="594360" y="320040"/>
            <a:ext cx="10972800" cy="259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0685F"/>
                </a:solidFill>
                <a:latin typeface="Segoe UI"/>
              </a:rPr>
              <a:t>UMBRAL · 10</a:t>
            </a:r>
          </a:p>
        </p:txBody>
      </p:sp>
      <p:sp>
        <p:nvSpPr>
          <p:cNvPr id="4" name="Texto editable"/>
          <p:cNvSpPr txBox="1"/>
          <p:nvPr/>
        </p:nvSpPr>
        <p:spPr>
          <a:xfrm>
            <a:off x="594360" y="822960"/>
            <a:ext cx="10972800" cy="56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5353B"/>
                </a:solidFill>
                <a:latin typeface="Segoe UI"/>
              </a:rPr>
              <a:t>Siguiente decisión: un piloto acotado</a:t>
            </a:r>
          </a:p>
        </p:txBody>
      </p:sp>
      <p:sp>
        <p:nvSpPr>
          <p:cNvPr id="5" name="Texto editable"/>
          <p:cNvSpPr txBox="1"/>
          <p:nvPr/>
        </p:nvSpPr>
        <p:spPr>
          <a:xfrm>
            <a:off x="594360" y="1965960"/>
            <a:ext cx="10881360" cy="475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0685F"/>
                </a:solidFill>
                <a:latin typeface="Segoe UI"/>
              </a:rPr>
              <a:t>Validación con el área usuaria</a:t>
            </a:r>
          </a:p>
        </p:txBody>
      </p:sp>
      <p:sp>
        <p:nvSpPr>
          <p:cNvPr id="6" name="Texto editable"/>
          <p:cNvSpPr txBox="1"/>
          <p:nvPr/>
        </p:nvSpPr>
        <p:spPr>
          <a:xfrm>
            <a:off x="594360" y="2569972"/>
            <a:ext cx="10881360" cy="754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0">
                <a:solidFill>
                  <a:srgbClr val="15353B"/>
                </a:solidFill>
                <a:latin typeface="Segoe UI"/>
              </a:rPr>
              <a:t>Acordar objetivo de priorización, capacidad real y protocolo de revisión territorial. Elegir acciones con cobertura que pueda medirse.</a:t>
            </a:r>
          </a:p>
        </p:txBody>
      </p:sp>
      <p:sp>
        <p:nvSpPr>
          <p:cNvPr id="7" name="Texto editable"/>
          <p:cNvSpPr txBox="1"/>
          <p:nvPr/>
        </p:nvSpPr>
        <p:spPr>
          <a:xfrm>
            <a:off x="594360" y="3452876"/>
            <a:ext cx="10881360" cy="475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0685F"/>
                </a:solidFill>
                <a:latin typeface="Segoe UI"/>
              </a:rPr>
              <a:t>Evaluación antes de ampliar</a:t>
            </a:r>
          </a:p>
        </p:txBody>
      </p:sp>
      <p:sp>
        <p:nvSpPr>
          <p:cNvPr id="8" name="Texto editable"/>
          <p:cNvSpPr txBox="1"/>
          <p:nvPr/>
        </p:nvSpPr>
        <p:spPr>
          <a:xfrm>
            <a:off x="594360" y="4056888"/>
            <a:ext cx="10881360" cy="754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0">
                <a:solidFill>
                  <a:srgbClr val="15353B"/>
                </a:solidFill>
                <a:latin typeface="Segoe UI"/>
              </a:rPr>
              <a:t>Predefinir indicadores y asignación del piloto. Conservar la referencia y publicar resultados favorables y adversos.</a:t>
            </a:r>
          </a:p>
        </p:txBody>
      </p:sp>
      <p:sp>
        <p:nvSpPr>
          <p:cNvPr id="9" name="Texto editable"/>
          <p:cNvSpPr txBox="1"/>
          <p:nvPr/>
        </p:nvSpPr>
        <p:spPr>
          <a:xfrm>
            <a:off x="594360" y="4939792"/>
            <a:ext cx="10881360" cy="3675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0">
                <a:solidFill>
                  <a:srgbClr val="15353B"/>
                </a:solidFill>
                <a:latin typeface="Segoe UI"/>
              </a:rPr>
              <a:t>Equipo: aguas.exe · Código, datos y guía de ejecución en el repositorio.</a:t>
            </a:r>
          </a:p>
        </p:txBody>
      </p:sp>
      <p:sp>
        <p:nvSpPr>
          <p:cNvPr id="10" name="Texto editable"/>
          <p:cNvSpPr txBox="1"/>
          <p:nvPr/>
        </p:nvSpPr>
        <p:spPr>
          <a:xfrm>
            <a:off x="594360" y="6245352"/>
            <a:ext cx="10881360" cy="2280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587177"/>
                </a:solidFill>
                <a:latin typeface="Segoe UI"/>
              </a:rPr>
              <a:t>https://github.com/Donatelatrump/Ine_Hackaton_2026 · Proyección 2027 exploratoria; efecto preventivo por evaluar.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