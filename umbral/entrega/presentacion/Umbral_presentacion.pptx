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UMBRAL. Umbral · aguas.exe · Reto 2 Fuentes: reporte metodológico; modelado/salidas/comparacion_modelos/resultados.json; entrega/caso_municipal.json; docs/FUENTES_COMPLEMENTARIAS_UMBRAL.md; docs/PLANES_ACCION_ESTATALES_PARTICIPACION.md. DOI SMS: 10.1017/S0007123424000504.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El problema: decidir dónde actuar. Umbral · aguas.exe · Reto 2 Fuentes: reporte metodológico; modelado/salidas/comparacion_modelos/resultados.json; entrega/caso_municipal.json; docs/FUENTES_COMPLEMENTARIAS_UMBRAL.md; docs/PLANES_ACCION_ESTATALES_PARTICIPACION.md. DOI SMS: 10.1017/S0007123424000504.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Qué permite hacer Umbral. Umbral · aguas.exe · Reto 2 Fuentes: reporte metodológico; modelado/salidas/comparacion_modelos/resultados.json; entrega/caso_municipal.json; docs/FUENTES_COMPLEMENTARIAS_UMBRAL.md; docs/PLANES_ACCION_ESTATALES_PARTICIPACION.md. DOI SMS: 10.1017/S0007123424000504.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Cómo predice la abstención de 2027. Fuente: CCPC 2009–2024 y comparación de cuatro modelos. Datos agregados, sin información personal. Fuentes: reporte metodológico; modelado/salidas/comparacion_modelos/resultados.json; entrega/caso_municipal.json; docs/FUENTES_COMPLEMENTARIAS_UMBRAL.md; docs/PLANES_ACCION_ESTATALES_PARTICIPACION.md. DOI SMS: 10.1017/S0007123424000504.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Qué tan bien predice. pp = puntos porcentuales. Modelo seleccionado por error medio y desempate ponderado; selección retrospectiva. Fuentes: reporte metodológico; modelado/salidas/comparacion_modelos/resultados.json; entrega/caso_municipal.json; docs/FUENTES_COMPLEMENTARIAS_UMBRAL.md; docs/PLANES_ACCION_ESTATALES_PARTICIPACION.md. DOI SMS: 10.1017/S0007123424000504.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Consultar el territorio antes de actuar. Umbral · aguas.exe · Reto 2 Fuentes: reporte metodológico; modelado/salidas/comparacion_modelos/resultados.json; entrega/caso_municipal.json; docs/FUENTES_COMPLEMENTARIAS_UMBRAL.md; docs/PLANES_ACCION_ESTATALES_PARTICIPACION.md. DOI SMS: 10.1017/S0007123424000504.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Simular una acción y comparar el cambio. Capturas del escenario estatal de Quintana Roo: cobertura 10%, efecto supuesto de 1.5 pp. No son el caso SMS. Fuentes: reporte metodológico; modelado/salidas/comparacion_modelos/resultados.json; entrega/caso_municipal.json; docs/FUENTES_COMPLEMENTARIAS_UMBRAL.md; docs/PLANES_ACCION_ESTATALES_PARTICIPACION.md. DOI SMS: 10.1017/S0007123424000504.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Planes para las 32 entidades. Propuestas del proyecto; costos y operación requieren acuerdo local. El 1.5 pp no es eficacia medida de los planes. Fuentes: reporte metodológico; modelado/salidas/comparacion_modelos/resultados.json; entrega/caso_municipal.json; docs/FUENTES_COMPLEMENTARIAS_UMBRAL.md; docs/PLANES_ACCION_ESTATALES_PARTICIPACION.md. DOI SMS: 10.1017/S0007123424000504.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SMS en Solidaridad: cobertura municipal. Población: proyección CONAPO 2027. SMS: Lindgren et al. (2025), transferencia hipotética. Estabilidad top50: 4/6. Fuentes: reporte metodológico; modelado/salidas/comparacion_modelos/resultados.json; entrega/caso_municipal.json; docs/FUENTES_COMPLEMENTARIAS_UMBRAL.md; docs/PLANES_ACCION_ESTATALES_PARTICIPACION.md. DOI SMS: 10.1017/S0007123424000504.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>Referencias y documentos consultados. Copias de las fuentes mexicanas en Info_extra/ del ZIP. Referencias completas y rutas en las notas y en el reporte. Fuentes: reporte metodológico; modelado/salidas/comparacion_modelos/resultados.json; entrega/caso_municipal.json; docs/FUENTES_COMPLEMENTARIAS_UMBRAL.md; docs/PLANES_ACCION_ESTATALES_PARTICIPACION.md. DOI SMS: 10.1017/S0007123424000504.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.xml" /><ns0:Relationship Id="rIdUmbral3" Type="http://schemas.openxmlformats.org/officeDocument/2006/relationships/image" Target="../media/umbral_logo_umbral.png" /><ns0:Relationship Id="rIdUmbral4" Type="http://schemas.openxmlformats.org/officeDocument/2006/relationships/image" Target="../media/umbral_hackea_participacion_ine.png" /><ns0:Relationship Id="rIdUmbral5" Type="http://schemas.openxmlformats.org/officeDocument/2006/relationships/image" Target="../media/umbral_mapa_base.png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2.xml" /><ns0:Relationship Id="rIdUmbral3" Type="http://schemas.openxmlformats.org/officeDocument/2006/relationships/image" Target="../media/umbral_recorrido_mexico.png" /></ns0: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png" /><ns0:Relationship Id="rId4" Type="http://schemas.openxmlformats.org/officeDocument/2006/relationships/notesSlide" Target="../notesSlides/notesSlide6.xml" /><ns0:Relationship Id="rIdUmbral5" Type="http://schemas.openxmlformats.org/officeDocument/2006/relationships/image" Target="../media/umbral_ficha_plan_estatal.png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7.xml" /><ns0:Relationship Id="rIdUmbral3" Type="http://schemas.openxmlformats.org/officeDocument/2006/relationships/image" Target="../media/umbral_escenario_sin.png" /><ns0:Relationship Id="rIdUmbral4" Type="http://schemas.openxmlformats.org/officeDocument/2006/relationships/image" Target="../media/umbral_mapa_intervencion.png" /><ns0:Relationship Id="rIdUmbral5" Type="http://schemas.openxmlformats.org/officeDocument/2006/relationships/image" Target="../media/umbral_mapa_cambio.png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8.xml" /><ns0:Relationship Id="rIdUmbral3" Type="http://schemas.openxmlformats.org/officeDocument/2006/relationships/image" Target="../media/umbral_plan_estatal_presentacion.png" /></ns0: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Captura real de Umbral"/>
          <p:cNvPicPr>
            <a:picLocks noChangeAspect="1"/>
          </p:cNvPicPr>
          <p:nvPr/>
        </p:nvPicPr>
        <p:blipFill>
          <a:blip r:embed="rIdUmbral3"/>
          <a:stretch>
            <a:fillRect/>
          </a:stretch>
        </p:blipFill>
        <p:spPr>
          <a:xfrm>
            <a:off x="502920" y="274320"/>
            <a:ext cx="960120" cy="960120"/>
          </a:xfrm>
          <a:prstGeom prst="rect">
            <a:avLst/>
          </a:prstGeom>
        </p:spPr>
      </p:pic>
      <p:pic>
        <p:nvPicPr>
          <p:cNvPr id="4" name="Captura real de Umbral"/>
          <p:cNvPicPr>
            <a:picLocks noChangeAspect="1"/>
          </p:cNvPicPr>
          <p:nvPr/>
        </p:nvPicPr>
        <p:blipFill>
          <a:blip r:embed="rIdUmbral4"/>
          <a:stretch>
            <a:fillRect/>
          </a:stretch>
        </p:blipFill>
        <p:spPr>
          <a:xfrm>
            <a:off x="9292182" y="274320"/>
            <a:ext cx="2309676" cy="1051560"/>
          </a:xfrm>
          <a:prstGeom prst="rect">
            <a:avLst/>
          </a:prstGeom>
        </p:spPr>
      </p:pic>
      <p:sp>
        <p:nvSpPr>
          <p:cNvPr id="5" name="Predicción de abstención electoral 2027"/>
          <p:cNvSpPr txBox="1"/>
          <p:nvPr/>
        </p:nvSpPr>
        <p:spPr>
          <a:xfrm>
            <a:off x="502920" y="1417320"/>
            <a:ext cx="5577840" cy="10713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>
                <a:solidFill>
                  <a:srgbClr val="15353B"/>
                </a:solidFill>
                <a:latin typeface="Segoe UI"/>
              </a:rPr>
              <a:t>Predicción de abstención</a:t>
            </a:r>
          </a:p>
          <a:p>
            <a:r>
              <a:rPr sz="3000" b="1">
                <a:solidFill>
                  <a:srgbClr val="15353B"/>
                </a:solidFill>
                <a:latin typeface="Segoe UI"/>
              </a:rPr>
              <a:t>electoral 2027</a:t>
            </a:r>
          </a:p>
        </p:txBody>
      </p:sp>
      <p:sp>
        <p:nvSpPr>
          <p:cNvPr id="6" name="Información territorial, simulación de a"/>
          <p:cNvSpPr txBox="1"/>
          <p:nvPr/>
        </p:nvSpPr>
        <p:spPr>
          <a:xfrm>
            <a:off x="502920" y="2788920"/>
            <a:ext cx="5303520" cy="912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500" b="0">
                <a:solidFill>
                  <a:srgbClr val="15353B"/>
                </a:solidFill>
                <a:latin typeface="Segoe UI"/>
              </a:rPr>
              <a:t>Información territorial, simulación de</a:t>
            </a:r>
          </a:p>
          <a:p>
            <a:r>
              <a:rPr sz="2500" b="0">
                <a:solidFill>
                  <a:srgbClr val="15353B"/>
                </a:solidFill>
                <a:latin typeface="Segoe UI"/>
              </a:rPr>
              <a:t>acciones y planes estatales.</a:t>
            </a:r>
          </a:p>
        </p:txBody>
      </p:sp>
      <p:sp>
        <p:nvSpPr>
          <p:cNvPr id="7" name="Martin Isai Nuñez Villeda&#10; y Cesar Donne"/>
          <p:cNvSpPr txBox="1"/>
          <p:nvPr/>
        </p:nvSpPr>
        <p:spPr>
          <a:xfrm>
            <a:off x="502920" y="4892040"/>
            <a:ext cx="5486400" cy="626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0">
                <a:solidFill>
                  <a:srgbClr val="15353B"/>
                </a:solidFill>
                <a:latin typeface="Segoe UI"/>
              </a:rPr>
              <a:t>Martin Isai Nuñez Villeda y Cesar Donnet Hernandez</a:t>
            </a:r>
          </a:p>
          <a:p>
            <a:r>
              <a:rPr sz="1600" b="0">
                <a:solidFill>
                  <a:srgbClr val="15353B"/>
                </a:solidFill>
                <a:latin typeface="Segoe UI"/>
              </a:rPr>
              <a:t>Gastelum</a:t>
            </a:r>
          </a:p>
        </p:txBody>
      </p:sp>
      <p:pic>
        <p:nvPicPr>
          <p:cNvPr id="8" name="Captura real de Umbral"/>
          <p:cNvPicPr>
            <a:picLocks noChangeAspect="1"/>
          </p:cNvPicPr>
          <p:nvPr/>
        </p:nvPicPr>
        <p:blipFill>
          <a:blip r:embed="rIdUmbral5"/>
          <a:stretch>
            <a:fillRect/>
          </a:stretch>
        </p:blipFill>
        <p:spPr>
          <a:xfrm>
            <a:off x="6263640" y="2164801"/>
            <a:ext cx="5303520" cy="2848438"/>
          </a:xfrm>
          <a:prstGeom prst="rect">
            <a:avLst/>
          </a:prstGeom>
        </p:spPr>
      </p:pic>
      <p:sp>
        <p:nvSpPr>
          <p:cNvPr id="9" name="Umbral · aguas.exe · Reto 2"/>
          <p:cNvSpPr txBox="1"/>
          <p:nvPr/>
        </p:nvSpPr>
        <p:spPr>
          <a:xfrm>
            <a:off x="502920" y="6419088"/>
            <a:ext cx="11155680" cy="277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Umbral · aguas.exe · Reto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El problema: decidir dónde actuar"/>
          <p:cNvSpPr txBox="1"/>
          <p:nvPr/>
        </p:nvSpPr>
        <p:spPr>
          <a:xfrm>
            <a:off x="502920" y="320040"/>
            <a:ext cx="11247120" cy="658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>
                <a:solidFill>
                  <a:srgbClr val="10685F"/>
                </a:solidFill>
                <a:latin typeface="Segoe UI"/>
              </a:rPr>
              <a:t>El problema: decidir dónde actuar</a:t>
            </a:r>
          </a:p>
        </p:txBody>
      </p:sp>
      <p:sp>
        <p:nvSpPr>
          <p:cNvPr id="4" name="¿En qué municipios podría concentrarse l"/>
          <p:cNvSpPr txBox="1"/>
          <p:nvPr/>
        </p:nvSpPr>
        <p:spPr>
          <a:xfrm>
            <a:off x="502920" y="1508760"/>
            <a:ext cx="5577840" cy="1547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>
                <a:solidFill>
                  <a:srgbClr val="15353B"/>
                </a:solidFill>
                <a:latin typeface="Segoe UI"/>
              </a:rPr>
              <a:t>¿En qué municipios podría</a:t>
            </a:r>
          </a:p>
          <a:p>
            <a:r>
              <a:rPr sz="3000" b="1">
                <a:solidFill>
                  <a:srgbClr val="15353B"/>
                </a:solidFill>
                <a:latin typeface="Segoe UI"/>
              </a:rPr>
              <a:t>concentrarse la abstención en</a:t>
            </a:r>
          </a:p>
          <a:p>
            <a:r>
              <a:rPr sz="3000" b="1">
                <a:solidFill>
                  <a:srgbClr val="15353B"/>
                </a:solidFill>
                <a:latin typeface="Segoe UI"/>
              </a:rPr>
              <a:t>2027?</a:t>
            </a:r>
          </a:p>
        </p:txBody>
      </p:sp>
      <p:sp>
        <p:nvSpPr>
          <p:cNvPr id="5" name="La capacidad de atención es limitada. Ha"/>
          <p:cNvSpPr txBox="1"/>
          <p:nvPr/>
        </p:nvSpPr>
        <p:spPr>
          <a:xfrm>
            <a:off x="502920" y="3154680"/>
            <a:ext cx="5303520" cy="1261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0">
                <a:solidFill>
                  <a:srgbClr val="15353B"/>
                </a:solidFill>
                <a:latin typeface="Segoe UI"/>
              </a:rPr>
              <a:t>La capacidad de atención es limitada.</a:t>
            </a:r>
          </a:p>
          <a:p>
            <a:r>
              <a:rPr sz="2400" b="0">
                <a:solidFill>
                  <a:srgbClr val="15353B"/>
                </a:solidFill>
                <a:latin typeface="Segoe UI"/>
              </a:rPr>
              <a:t>Hace falta elegir territorios y justificar</a:t>
            </a:r>
          </a:p>
          <a:p>
            <a:r>
              <a:rPr sz="2400" b="0">
                <a:solidFill>
                  <a:srgbClr val="15353B"/>
                </a:solidFill>
                <a:latin typeface="Segoe UI"/>
              </a:rPr>
              <a:t>esa elección.</a:t>
            </a:r>
          </a:p>
        </p:txBody>
      </p:sp>
      <p:sp>
        <p:nvSpPr>
          <p:cNvPr id="6" name="Umbral reúne la predicción y el contexto"/>
          <p:cNvSpPr txBox="1"/>
          <p:nvPr/>
        </p:nvSpPr>
        <p:spPr>
          <a:xfrm>
            <a:off x="502920" y="4709160"/>
            <a:ext cx="5303520" cy="1261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0685F"/>
                </a:solidFill>
                <a:latin typeface="Segoe UI"/>
              </a:rPr>
              <a:t>Umbral reúne la predicción y el</a:t>
            </a:r>
          </a:p>
          <a:p>
            <a:r>
              <a:rPr sz="2400" b="1">
                <a:solidFill>
                  <a:srgbClr val="10685F"/>
                </a:solidFill>
                <a:latin typeface="Segoe UI"/>
              </a:rPr>
              <a:t>contexto para preparar esa</a:t>
            </a:r>
          </a:p>
          <a:p>
            <a:r>
              <a:rPr sz="2400" b="1">
                <a:solidFill>
                  <a:srgbClr val="10685F"/>
                </a:solidFill>
                <a:latin typeface="Segoe UI"/>
              </a:rPr>
              <a:t>decisión.</a:t>
            </a:r>
          </a:p>
        </p:txBody>
      </p:sp>
      <p:pic>
        <p:nvPicPr>
          <p:cNvPr id="7" name="Captura real de Umbral"/>
          <p:cNvPicPr>
            <a:picLocks noChangeAspect="1"/>
          </p:cNvPicPr>
          <p:nvPr/>
        </p:nvPicPr>
        <p:blipFill>
          <a:blip r:embed="rIdUmbral3"/>
          <a:stretch>
            <a:fillRect/>
          </a:stretch>
        </p:blipFill>
        <p:spPr>
          <a:xfrm>
            <a:off x="6263640" y="1784350"/>
            <a:ext cx="5394960" cy="3746500"/>
          </a:xfrm>
          <a:prstGeom prst="rect">
            <a:avLst/>
          </a:prstGeom>
        </p:spPr>
      </p:pic>
      <p:sp>
        <p:nvSpPr>
          <p:cNvPr id="8" name="Umbral · aguas.exe · Reto 2"/>
          <p:cNvSpPr txBox="1"/>
          <p:nvPr/>
        </p:nvSpPr>
        <p:spPr>
          <a:xfrm>
            <a:off x="502920" y="6419088"/>
            <a:ext cx="11155680" cy="277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Umbral · aguas.exe · Reto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Qué permite hacer Umbral"/>
          <p:cNvSpPr txBox="1"/>
          <p:nvPr/>
        </p:nvSpPr>
        <p:spPr>
          <a:xfrm>
            <a:off x="502920" y="320040"/>
            <a:ext cx="11247120" cy="658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>
                <a:solidFill>
                  <a:srgbClr val="10685F"/>
                </a:solidFill>
                <a:latin typeface="Segoe UI"/>
              </a:rPr>
              <a:t>Qué permite hacer Umbral</a:t>
            </a:r>
          </a:p>
        </p:txBody>
      </p:sp>
      <p:sp>
        <p:nvSpPr>
          <p:cNvPr id="4" name="01  PREDECIR"/>
          <p:cNvSpPr txBox="1"/>
          <p:nvPr/>
        </p:nvSpPr>
        <p:spPr>
          <a:xfrm>
            <a:off x="640080" y="1508760"/>
            <a:ext cx="3291840" cy="499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0685F"/>
                </a:solidFill>
                <a:latin typeface="Segoe UI"/>
              </a:rPr>
              <a:t>01 PREDECIR</a:t>
            </a:r>
          </a:p>
        </p:txBody>
      </p:sp>
      <p:sp>
        <p:nvSpPr>
          <p:cNvPr id="5" name="Estimar la abstención municipal de 2027."/>
          <p:cNvSpPr txBox="1"/>
          <p:nvPr/>
        </p:nvSpPr>
        <p:spPr>
          <a:xfrm>
            <a:off x="4023360" y="1508760"/>
            <a:ext cx="7406640" cy="5157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500" b="0">
                <a:solidFill>
                  <a:srgbClr val="15353B"/>
                </a:solidFill>
                <a:latin typeface="Segoe UI"/>
              </a:rPr>
              <a:t>Estimar la abstención municipal de 2027.</a:t>
            </a:r>
          </a:p>
        </p:txBody>
      </p:sp>
      <p:sp>
        <p:nvSpPr>
          <p:cNvPr id="6" name="02  INFORMAR"/>
          <p:cNvSpPr txBox="1"/>
          <p:nvPr/>
        </p:nvSpPr>
        <p:spPr>
          <a:xfrm>
            <a:off x="640080" y="2587752"/>
            <a:ext cx="3291840" cy="499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0685F"/>
                </a:solidFill>
                <a:latin typeface="Segoe UI"/>
              </a:rPr>
              <a:t>02 INFORMAR</a:t>
            </a:r>
          </a:p>
        </p:txBody>
      </p:sp>
      <p:sp>
        <p:nvSpPr>
          <p:cNvPr id="7" name="Consultar históricos, perfiles y fuentes"/>
          <p:cNvSpPr txBox="1"/>
          <p:nvPr/>
        </p:nvSpPr>
        <p:spPr>
          <a:xfrm>
            <a:off x="4023360" y="2587752"/>
            <a:ext cx="7406640" cy="5157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500" b="0">
                <a:solidFill>
                  <a:srgbClr val="15353B"/>
                </a:solidFill>
                <a:latin typeface="Segoe UI"/>
              </a:rPr>
              <a:t>Consultar históricos, perfiles y fuentes.</a:t>
            </a:r>
          </a:p>
        </p:txBody>
      </p:sp>
      <p:sp>
        <p:nvSpPr>
          <p:cNvPr id="8" name="03  SIMULAR"/>
          <p:cNvSpPr txBox="1"/>
          <p:nvPr/>
        </p:nvSpPr>
        <p:spPr>
          <a:xfrm>
            <a:off x="640080" y="3666744"/>
            <a:ext cx="3291840" cy="499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0685F"/>
                </a:solidFill>
                <a:latin typeface="Segoe UI"/>
              </a:rPr>
              <a:t>03 SIMULAR</a:t>
            </a:r>
          </a:p>
        </p:txBody>
      </p:sp>
      <p:sp>
        <p:nvSpPr>
          <p:cNvPr id="9" name="Comparar escenarios sin y con una acción"/>
          <p:cNvSpPr txBox="1"/>
          <p:nvPr/>
        </p:nvSpPr>
        <p:spPr>
          <a:xfrm>
            <a:off x="4023360" y="3666744"/>
            <a:ext cx="7406640" cy="5157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500" b="0">
                <a:solidFill>
                  <a:srgbClr val="15353B"/>
                </a:solidFill>
                <a:latin typeface="Segoe UI"/>
              </a:rPr>
              <a:t>Comparar escenarios sin y con una acción.</a:t>
            </a:r>
          </a:p>
        </p:txBody>
      </p:sp>
      <p:sp>
        <p:nvSpPr>
          <p:cNvPr id="10" name="04  PROPONER"/>
          <p:cNvSpPr txBox="1"/>
          <p:nvPr/>
        </p:nvSpPr>
        <p:spPr>
          <a:xfrm>
            <a:off x="640080" y="4745736"/>
            <a:ext cx="3291840" cy="499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0685F"/>
                </a:solidFill>
                <a:latin typeface="Segoe UI"/>
              </a:rPr>
              <a:t>04 PROPONER</a:t>
            </a:r>
          </a:p>
        </p:txBody>
      </p:sp>
      <p:sp>
        <p:nvSpPr>
          <p:cNvPr id="11" name="Revisar planes adaptados al contexto est"/>
          <p:cNvSpPr txBox="1"/>
          <p:nvPr/>
        </p:nvSpPr>
        <p:spPr>
          <a:xfrm>
            <a:off x="4023360" y="4745736"/>
            <a:ext cx="7406640" cy="5157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500" b="0">
                <a:solidFill>
                  <a:srgbClr val="15353B"/>
                </a:solidFill>
                <a:latin typeface="Segoe UI"/>
              </a:rPr>
              <a:t>Revisar planes adaptados al contexto estatal.</a:t>
            </a:r>
          </a:p>
        </p:txBody>
      </p:sp>
      <p:sp>
        <p:nvSpPr>
          <p:cNvPr id="12" name="Umbral · aguas.exe · Reto 2"/>
          <p:cNvSpPr txBox="1"/>
          <p:nvPr/>
        </p:nvSpPr>
        <p:spPr>
          <a:xfrm>
            <a:off x="502920" y="6419088"/>
            <a:ext cx="11155680" cy="277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Umbral · aguas.exe · Reto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ómo predice la abstención de 2027"/>
          <p:cNvSpPr txBox="1"/>
          <p:nvPr/>
        </p:nvSpPr>
        <p:spPr>
          <a:xfrm>
            <a:off x="502920" y="320040"/>
            <a:ext cx="11247120" cy="658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>
                <a:solidFill>
                  <a:srgbClr val="10685F"/>
                </a:solidFill>
                <a:latin typeface="Segoe UI"/>
              </a:rPr>
              <a:t>Cómo predice la abstención de 2027</a:t>
            </a:r>
          </a:p>
        </p:txBody>
      </p:sp>
      <p:sp>
        <p:nvSpPr>
          <p:cNvPr id="4" name="2009–2024"/>
          <p:cNvSpPr txBox="1"/>
          <p:nvPr/>
        </p:nvSpPr>
        <p:spPr>
          <a:xfrm>
            <a:off x="594360" y="1508760"/>
            <a:ext cx="3200400" cy="626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200" b="1">
                <a:solidFill>
                  <a:srgbClr val="10685F"/>
                </a:solidFill>
                <a:latin typeface="Segoe UI"/>
              </a:rPr>
              <a:t>2009–2024</a:t>
            </a:r>
          </a:p>
        </p:txBody>
      </p:sp>
      <p:sp>
        <p:nvSpPr>
          <p:cNvPr id="5" name="Historia electoral del INE"/>
          <p:cNvSpPr txBox="1"/>
          <p:nvPr/>
        </p:nvSpPr>
        <p:spPr>
          <a:xfrm>
            <a:off x="594360" y="2240280"/>
            <a:ext cx="3200400" cy="4681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>
                <a:solidFill>
                  <a:srgbClr val="15353B"/>
                </a:solidFill>
                <a:latin typeface="Segoe UI"/>
              </a:rPr>
              <a:t>Historia electoral del INE</a:t>
            </a:r>
          </a:p>
        </p:txBody>
      </p:sp>
      <p:sp>
        <p:nvSpPr>
          <p:cNvPr id="6" name="15 variables"/>
          <p:cNvSpPr txBox="1"/>
          <p:nvPr/>
        </p:nvSpPr>
        <p:spPr>
          <a:xfrm>
            <a:off x="4480560" y="1508760"/>
            <a:ext cx="3200400" cy="626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200" b="1">
                <a:solidFill>
                  <a:srgbClr val="10685F"/>
                </a:solidFill>
                <a:latin typeface="Segoe UI"/>
              </a:rPr>
              <a:t>15 variables</a:t>
            </a:r>
          </a:p>
        </p:txBody>
      </p:sp>
      <p:sp>
        <p:nvSpPr>
          <p:cNvPr id="7" name="Abstención, edad, urbanización y calidad"/>
          <p:cNvSpPr txBox="1"/>
          <p:nvPr/>
        </p:nvSpPr>
        <p:spPr>
          <a:xfrm>
            <a:off x="4480560" y="2240280"/>
            <a:ext cx="3200400" cy="8173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>
                <a:solidFill>
                  <a:srgbClr val="15353B"/>
                </a:solidFill>
                <a:latin typeface="Segoe UI"/>
              </a:rPr>
              <a:t>Abstención, edad,</a:t>
            </a:r>
          </a:p>
          <a:p>
            <a:r>
              <a:rPr sz="2200" b="0">
                <a:solidFill>
                  <a:srgbClr val="15353B"/>
                </a:solidFill>
                <a:latin typeface="Segoe UI"/>
              </a:rPr>
              <a:t>urbanización y calidad</a:t>
            </a:r>
          </a:p>
        </p:txBody>
      </p:sp>
      <p:sp>
        <p:nvSpPr>
          <p:cNvPr id="8" name="2027"/>
          <p:cNvSpPr txBox="1"/>
          <p:nvPr/>
        </p:nvSpPr>
        <p:spPr>
          <a:xfrm>
            <a:off x="8366760" y="1508760"/>
            <a:ext cx="3200400" cy="626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200" b="1">
                <a:solidFill>
                  <a:srgbClr val="10685F"/>
                </a:solidFill>
                <a:latin typeface="Segoe UI"/>
              </a:rPr>
              <a:t>2027</a:t>
            </a:r>
          </a:p>
        </p:txBody>
      </p:sp>
      <p:sp>
        <p:nvSpPr>
          <p:cNvPr id="9" name="Predicción municipal"/>
          <p:cNvSpPr txBox="1"/>
          <p:nvPr/>
        </p:nvSpPr>
        <p:spPr>
          <a:xfrm>
            <a:off x="8366760" y="2240280"/>
            <a:ext cx="3200400" cy="4681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>
                <a:solidFill>
                  <a:srgbClr val="15353B"/>
                </a:solidFill>
                <a:latin typeface="Segoe UI"/>
              </a:rPr>
              <a:t>Predicción municipal</a:t>
            </a:r>
          </a:p>
        </p:txBody>
      </p:sp>
      <p:sp>
        <p:nvSpPr>
          <p:cNvPr id="10" name="Se comparan cuatro modelos; se seleccion"/>
          <p:cNvSpPr txBox="1"/>
          <p:nvPr/>
        </p:nvSpPr>
        <p:spPr>
          <a:xfrm>
            <a:off x="594360" y="3840480"/>
            <a:ext cx="10881360" cy="5157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500" b="1">
                <a:solidFill>
                  <a:srgbClr val="15353B"/>
                </a:solidFill>
                <a:latin typeface="Segoe UI"/>
              </a:rPr>
              <a:t>Se comparan cuatro modelos; se selecciona HistGradientBoosting.</a:t>
            </a:r>
          </a:p>
        </p:txBody>
      </p:sp>
      <p:sp>
        <p:nvSpPr>
          <p:cNvPr id="11" name="1,783 municipios con estimación. Otros 6"/>
          <p:cNvSpPr txBox="1"/>
          <p:nvPr/>
        </p:nvSpPr>
        <p:spPr>
          <a:xfrm>
            <a:off x="594360" y="4754880"/>
            <a:ext cx="10881360" cy="880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0">
                <a:solidFill>
                  <a:srgbClr val="15353B"/>
                </a:solidFill>
                <a:latin typeface="Segoe UI"/>
              </a:rPr>
              <a:t>1,783 municipios con estimación. Otros 694 quedan sin estimación por</a:t>
            </a:r>
          </a:p>
          <a:p>
            <a:r>
              <a:rPr sz="2400" b="0">
                <a:solidFill>
                  <a:srgbClr val="15353B"/>
                </a:solidFill>
                <a:latin typeface="Segoe UI"/>
              </a:rPr>
              <a:t>información insuficiente.</a:t>
            </a:r>
          </a:p>
        </p:txBody>
      </p:sp>
      <p:sp>
        <p:nvSpPr>
          <p:cNvPr id="12" name="Fuente: CCPC 2009–2024 y comparación de "/>
          <p:cNvSpPr txBox="1"/>
          <p:nvPr/>
        </p:nvSpPr>
        <p:spPr>
          <a:xfrm>
            <a:off x="502920" y="6419088"/>
            <a:ext cx="11155680" cy="277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Fuente: CCPC 2009–2024 y comparación de cuatro modelos. Datos agregados, sin información personal.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Qué tan bien predice"/>
          <p:cNvSpPr txBox="1"/>
          <p:nvPr/>
        </p:nvSpPr>
        <p:spPr>
          <a:xfrm>
            <a:off x="502920" y="320040"/>
            <a:ext cx="11247120" cy="658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>
                <a:solidFill>
                  <a:srgbClr val="10685F"/>
                </a:solidFill>
                <a:latin typeface="Segoe UI"/>
              </a:rPr>
              <a:t>Qué tan bien predice</a:t>
            </a:r>
          </a:p>
        </p:txBody>
      </p:sp>
      <p:sp>
        <p:nvSpPr>
          <p:cNvPr id="4" name="6.84 pp"/>
          <p:cNvSpPr txBox="1"/>
          <p:nvPr/>
        </p:nvSpPr>
        <p:spPr>
          <a:xfrm>
            <a:off x="640080" y="1508760"/>
            <a:ext cx="4846320" cy="10713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6000" b="1">
                <a:solidFill>
                  <a:srgbClr val="10685F"/>
                </a:solidFill>
                <a:latin typeface="Segoe UI"/>
              </a:rPr>
              <a:t>6.84 pp</a:t>
            </a:r>
          </a:p>
        </p:txBody>
      </p:sp>
      <p:sp>
        <p:nvSpPr>
          <p:cNvPr id="5" name="Error absoluto medio del modelo en las e"/>
          <p:cNvSpPr txBox="1"/>
          <p:nvPr/>
        </p:nvSpPr>
        <p:spPr>
          <a:xfrm>
            <a:off x="640080" y="2834640"/>
            <a:ext cx="4937760" cy="880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0">
                <a:solidFill>
                  <a:srgbClr val="15353B"/>
                </a:solidFill>
                <a:latin typeface="Segoe UI"/>
              </a:rPr>
              <a:t>Error absoluto medio del modelo</a:t>
            </a:r>
          </a:p>
          <a:p>
            <a:r>
              <a:rPr sz="2400" b="0">
                <a:solidFill>
                  <a:srgbClr val="15353B"/>
                </a:solidFill>
                <a:latin typeface="Segoe UI"/>
              </a:rPr>
              <a:t>en las evaluaciones de 2021 y 2024.</a:t>
            </a:r>
          </a:p>
        </p:txBody>
      </p:sp>
      <p:sp>
        <p:nvSpPr>
          <p:cNvPr id="6" name="Referencia simple: 8.88 pp"/>
          <p:cNvSpPr txBox="1"/>
          <p:nvPr/>
        </p:nvSpPr>
        <p:spPr>
          <a:xfrm>
            <a:off x="640080" y="4251960"/>
            <a:ext cx="5029200" cy="499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1">
                <a:solidFill>
                  <a:srgbClr val="15353B"/>
                </a:solidFill>
                <a:latin typeface="Segoe UI"/>
              </a:rPr>
              <a:t>Referencia simple: 8.88 pp</a:t>
            </a:r>
          </a:p>
        </p:txBody>
      </p:sp>
      <p:sp>
        <p:nvSpPr>
          <p:cNvPr id="7" name="El modelo puede equivocarse."/>
          <p:cNvSpPr txBox="1"/>
          <p:nvPr/>
        </p:nvSpPr>
        <p:spPr>
          <a:xfrm>
            <a:off x="6400800" y="1691640"/>
            <a:ext cx="5120640" cy="10713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000" b="1">
                <a:solidFill>
                  <a:srgbClr val="15353B"/>
                </a:solidFill>
                <a:latin typeface="Segoe UI"/>
              </a:rPr>
              <a:t>El modelo puede</a:t>
            </a:r>
          </a:p>
          <a:p>
            <a:r>
              <a:rPr sz="3000" b="1">
                <a:solidFill>
                  <a:srgbClr val="15353B"/>
                </a:solidFill>
                <a:latin typeface="Segoe UI"/>
              </a:rPr>
              <a:t>equivocarse.</a:t>
            </a:r>
          </a:p>
        </p:txBody>
      </p:sp>
      <p:sp>
        <p:nvSpPr>
          <p:cNvPr id="8" name="En 2024, la referencia identificó 27 de "/>
          <p:cNvSpPr txBox="1"/>
          <p:nvPr/>
        </p:nvSpPr>
        <p:spPr>
          <a:xfrm>
            <a:off x="6400800" y="2743200"/>
            <a:ext cx="5029200" cy="1261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0">
                <a:solidFill>
                  <a:srgbClr val="15353B"/>
                </a:solidFill>
                <a:latin typeface="Segoe UI"/>
              </a:rPr>
              <a:t>En 2024, la referencia identificó 27</a:t>
            </a:r>
          </a:p>
          <a:p>
            <a:r>
              <a:rPr sz="2400" b="0">
                <a:solidFill>
                  <a:srgbClr val="15353B"/>
                </a:solidFill>
                <a:latin typeface="Segoe UI"/>
              </a:rPr>
              <a:t>de los 50 municipios con mayor</a:t>
            </a:r>
          </a:p>
          <a:p>
            <a:r>
              <a:rPr sz="2400" b="0">
                <a:solidFill>
                  <a:srgbClr val="15353B"/>
                </a:solidFill>
                <a:latin typeface="Segoe UI"/>
              </a:rPr>
              <a:t>abstención; el modelo, 19.</a:t>
            </a:r>
          </a:p>
        </p:txBody>
      </p:sp>
      <p:sp>
        <p:nvSpPr>
          <p:cNvPr id="9" name="El acierto de 2027 se comprobará cuando "/>
          <p:cNvSpPr txBox="1"/>
          <p:nvPr/>
        </p:nvSpPr>
        <p:spPr>
          <a:xfrm>
            <a:off x="6400800" y="4572000"/>
            <a:ext cx="5029200" cy="880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0">
                <a:solidFill>
                  <a:srgbClr val="15353B"/>
                </a:solidFill>
                <a:latin typeface="Segoe UI"/>
              </a:rPr>
              <a:t>El acierto de 2027 se comprobará</a:t>
            </a:r>
          </a:p>
          <a:p>
            <a:r>
              <a:rPr sz="2400" b="0">
                <a:solidFill>
                  <a:srgbClr val="15353B"/>
                </a:solidFill>
                <a:latin typeface="Segoe UI"/>
              </a:rPr>
              <a:t>cuando existan resultados.</a:t>
            </a:r>
          </a:p>
        </p:txBody>
      </p:sp>
      <p:sp>
        <p:nvSpPr>
          <p:cNvPr id="10" name="pp = puntos porcentuales. Modelo selecci"/>
          <p:cNvSpPr txBox="1"/>
          <p:nvPr/>
        </p:nvSpPr>
        <p:spPr>
          <a:xfrm>
            <a:off x="502920" y="6419088"/>
            <a:ext cx="11155680" cy="277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pp = puntos porcentuales. Modelo seleccionado por error medio y desempate ponderado; selección retrospectiva.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Consultar el territorio antes de actuar"/>
          <p:cNvSpPr txBox="1"/>
          <p:nvPr/>
        </p:nvSpPr>
        <p:spPr>
          <a:xfrm>
            <a:off x="502920" y="320040"/>
            <a:ext cx="11247120" cy="658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>
                <a:solidFill>
                  <a:srgbClr val="10685F"/>
                </a:solidFill>
                <a:latin typeface="Segoe UI"/>
              </a:rPr>
              <a:t>Consultar el territorio antes de actuar</a:t>
            </a:r>
          </a:p>
        </p:txBody>
      </p:sp>
      <p:pic>
        <p:nvPicPr>
          <p:cNvPr id="4" name="Captura real de Umbral"/>
          <p:cNvPicPr>
            <a:picLocks noChangeAspect="1"/>
          </p:cNvPicPr>
          <p:nvPr/>
        </p:nvPicPr>
        <p:blipFill>
          <a:blip r:embed="rIdUmbral5"/>
          <a:stretch>
            <a:fillRect/>
          </a:stretch>
        </p:blipFill>
        <p:spPr>
          <a:xfrm>
            <a:off x="695858" y="1280160"/>
            <a:ext cx="6517843" cy="4526280"/>
          </a:xfrm>
          <a:prstGeom prst="rect">
            <a:avLst/>
          </a:prstGeom>
        </p:spPr>
      </p:pic>
      <p:sp>
        <p:nvSpPr>
          <p:cNvPr id="5" name="Qué revisar"/>
          <p:cNvSpPr txBox="1"/>
          <p:nvPr/>
        </p:nvSpPr>
        <p:spPr>
          <a:xfrm>
            <a:off x="7726680" y="1508760"/>
            <a:ext cx="3749040" cy="5633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800" b="1">
                <a:solidFill>
                  <a:srgbClr val="10685F"/>
                </a:solidFill>
                <a:latin typeface="Segoe UI"/>
              </a:rPr>
              <a:t>Qué revisar</a:t>
            </a:r>
          </a:p>
        </p:txBody>
      </p:sp>
      <p:sp>
        <p:nvSpPr>
          <p:cNvPr id="6" name="Histórico de abstención.&#10; Calidad y cobe"/>
          <p:cNvSpPr txBox="1"/>
          <p:nvPr/>
        </p:nvSpPr>
        <p:spPr>
          <a:xfrm>
            <a:off x="7726680" y="2331720"/>
            <a:ext cx="3749040" cy="19444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300" b="0">
                <a:solidFill>
                  <a:srgbClr val="15353B"/>
                </a:solidFill>
                <a:latin typeface="Segoe UI"/>
              </a:rPr>
              <a:t>Histórico de abstención.</a:t>
            </a:r>
          </a:p>
          <a:p>
            <a:r>
              <a:rPr sz="2300" b="0">
                <a:solidFill>
                  <a:srgbClr val="15353B"/>
                </a:solidFill>
                <a:latin typeface="Segoe UI"/>
              </a:rPr>
              <a:t>Calidad y cobertura de</a:t>
            </a:r>
          </a:p>
          <a:p>
            <a:r>
              <a:rPr sz="2300" b="0">
                <a:solidFill>
                  <a:srgbClr val="15353B"/>
                </a:solidFill>
                <a:latin typeface="Segoe UI"/>
              </a:rPr>
              <a:t>datos. Contexto y perfiles</a:t>
            </a:r>
          </a:p>
          <a:p>
            <a:r>
              <a:rPr sz="2300" b="0">
                <a:solidFill>
                  <a:srgbClr val="15353B"/>
                </a:solidFill>
                <a:latin typeface="Segoe UI"/>
              </a:rPr>
              <a:t>agregados. Estabilidad de</a:t>
            </a:r>
          </a:p>
          <a:p>
            <a:r>
              <a:rPr sz="2300" b="0">
                <a:solidFill>
                  <a:srgbClr val="15353B"/>
                </a:solidFill>
                <a:latin typeface="Segoe UI"/>
              </a:rPr>
              <a:t>la prioridad.</a:t>
            </a:r>
          </a:p>
        </p:txBody>
      </p:sp>
      <p:sp>
        <p:nvSpPr>
          <p:cNvPr id="7" name="El mapa muestra dónde mirar; la informac"/>
          <p:cNvSpPr txBox="1"/>
          <p:nvPr/>
        </p:nvSpPr>
        <p:spPr>
          <a:xfrm>
            <a:off x="7726680" y="4709160"/>
            <a:ext cx="3749040" cy="11189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El mapa muestra dónde mirar;</a:t>
            </a:r>
          </a:p>
          <a:p>
            <a:r>
              <a:rPr sz="2100" b="0">
                <a:solidFill>
                  <a:srgbClr val="15353B"/>
                </a:solidFill>
                <a:latin typeface="Segoe UI"/>
              </a:rPr>
              <a:t>la información ayuda a</a:t>
            </a:r>
          </a:p>
          <a:p>
            <a:r>
              <a:rPr sz="2100" b="0">
                <a:solidFill>
                  <a:srgbClr val="15353B"/>
                </a:solidFill>
                <a:latin typeface="Segoe UI"/>
              </a:rPr>
              <a:t>interpretar el territorio.</a:t>
            </a:r>
          </a:p>
        </p:txBody>
      </p:sp>
      <p:sp>
        <p:nvSpPr>
          <p:cNvPr id="8" name="Umbral · aguas.exe · Reto 2"/>
          <p:cNvSpPr txBox="1"/>
          <p:nvPr/>
        </p:nvSpPr>
        <p:spPr>
          <a:xfrm>
            <a:off x="502920" y="6419088"/>
            <a:ext cx="11155680" cy="277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Umbral · aguas.exe · Reto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imular una acción y comparar el cambio"/>
          <p:cNvSpPr txBox="1"/>
          <p:nvPr/>
        </p:nvSpPr>
        <p:spPr>
          <a:xfrm>
            <a:off x="502920" y="320040"/>
            <a:ext cx="11247120" cy="658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>
                <a:solidFill>
                  <a:srgbClr val="10685F"/>
                </a:solidFill>
                <a:latin typeface="Segoe UI"/>
              </a:rPr>
              <a:t>Simular una acción y comparar el cambio</a:t>
            </a:r>
          </a:p>
        </p:txBody>
      </p:sp>
      <p:sp>
        <p:nvSpPr>
          <p:cNvPr id="4" name="1. Sin acción"/>
          <p:cNvSpPr txBox="1"/>
          <p:nvPr/>
        </p:nvSpPr>
        <p:spPr>
          <a:xfrm>
            <a:off x="502920" y="1371600"/>
            <a:ext cx="3474720" cy="5157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500" b="1">
                <a:solidFill>
                  <a:srgbClr val="10685F"/>
                </a:solidFill>
                <a:latin typeface="Segoe UI"/>
              </a:rPr>
              <a:t>1. Sin acción</a:t>
            </a:r>
          </a:p>
        </p:txBody>
      </p:sp>
      <p:pic>
        <p:nvPicPr>
          <p:cNvPr id="5" name="Captura real de Umbral"/>
          <p:cNvPicPr>
            <a:picLocks noChangeAspect="1"/>
          </p:cNvPicPr>
          <p:nvPr/>
        </p:nvPicPr>
        <p:blipFill>
          <a:blip r:embed="rIdUmbral3"/>
          <a:stretch>
            <a:fillRect/>
          </a:stretch>
        </p:blipFill>
        <p:spPr>
          <a:xfrm>
            <a:off x="701936" y="1874520"/>
            <a:ext cx="3030967" cy="2240280"/>
          </a:xfrm>
          <a:prstGeom prst="rect">
            <a:avLst/>
          </a:prstGeom>
        </p:spPr>
      </p:pic>
      <p:sp>
        <p:nvSpPr>
          <p:cNvPr id="6" name="2. Con acción"/>
          <p:cNvSpPr txBox="1"/>
          <p:nvPr/>
        </p:nvSpPr>
        <p:spPr>
          <a:xfrm>
            <a:off x="4389120" y="1371600"/>
            <a:ext cx="3474720" cy="5157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500" b="1">
                <a:solidFill>
                  <a:srgbClr val="10685F"/>
                </a:solidFill>
                <a:latin typeface="Segoe UI"/>
              </a:rPr>
              <a:t>2. Con acción</a:t>
            </a:r>
          </a:p>
        </p:txBody>
      </p:sp>
      <p:pic>
        <p:nvPicPr>
          <p:cNvPr id="7" name="Captura real de Umbral"/>
          <p:cNvPicPr>
            <a:picLocks noChangeAspect="1"/>
          </p:cNvPicPr>
          <p:nvPr/>
        </p:nvPicPr>
        <p:blipFill>
          <a:blip r:embed="rIdUmbral4"/>
          <a:stretch>
            <a:fillRect/>
          </a:stretch>
        </p:blipFill>
        <p:spPr>
          <a:xfrm>
            <a:off x="4588136" y="1874520"/>
            <a:ext cx="3030967" cy="2240280"/>
          </a:xfrm>
          <a:prstGeom prst="rect">
            <a:avLst/>
          </a:prstGeom>
        </p:spPr>
      </p:pic>
      <p:sp>
        <p:nvSpPr>
          <p:cNvPr id="8" name="3. Diferencia"/>
          <p:cNvSpPr txBox="1"/>
          <p:nvPr/>
        </p:nvSpPr>
        <p:spPr>
          <a:xfrm>
            <a:off x="8275320" y="1371600"/>
            <a:ext cx="3474720" cy="5157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500" b="1">
                <a:solidFill>
                  <a:srgbClr val="10685F"/>
                </a:solidFill>
                <a:latin typeface="Segoe UI"/>
              </a:rPr>
              <a:t>3. Diferencia</a:t>
            </a:r>
          </a:p>
        </p:txBody>
      </p:sp>
      <p:pic>
        <p:nvPicPr>
          <p:cNvPr id="9" name="Captura real de Umbral"/>
          <p:cNvPicPr>
            <a:picLocks noChangeAspect="1"/>
          </p:cNvPicPr>
          <p:nvPr/>
        </p:nvPicPr>
        <p:blipFill>
          <a:blip r:embed="rIdUmbral5"/>
          <a:stretch>
            <a:fillRect/>
          </a:stretch>
        </p:blipFill>
        <p:spPr>
          <a:xfrm>
            <a:off x="8275320" y="2244452"/>
            <a:ext cx="3429000" cy="1500416"/>
          </a:xfrm>
          <a:prstGeom prst="rect">
            <a:avLst/>
          </a:prstGeom>
        </p:spPr>
      </p:pic>
      <p:sp>
        <p:nvSpPr>
          <p:cNvPr id="10" name="Elegir acción y cobertura → aplicar su c"/>
          <p:cNvSpPr txBox="1"/>
          <p:nvPr/>
        </p:nvSpPr>
        <p:spPr>
          <a:xfrm>
            <a:off x="594360" y="4434840"/>
            <a:ext cx="10972800" cy="5157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500" b="1">
                <a:solidFill>
                  <a:srgbClr val="15353B"/>
                </a:solidFill>
                <a:latin typeface="Segoe UI"/>
              </a:rPr>
              <a:t>Elegir acción y cobertura → aplicar su coeficiente → comparar tasas.</a:t>
            </a:r>
          </a:p>
        </p:txBody>
      </p:sp>
      <p:sp>
        <p:nvSpPr>
          <p:cNvPr id="11" name="Reparto por prioridad o proporcional. Lo"/>
          <p:cNvSpPr txBox="1"/>
          <p:nvPr/>
        </p:nvSpPr>
        <p:spPr>
          <a:xfrm>
            <a:off x="594360" y="5166360"/>
            <a:ext cx="10972800" cy="8173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>
                <a:solidFill>
                  <a:srgbClr val="15353B"/>
                </a:solidFill>
                <a:latin typeface="Segoe UI"/>
              </a:rPr>
              <a:t>Reparto por prioridad o proporcional. Los cálculos usan efectos publicados o supuestos</a:t>
            </a:r>
          </a:p>
          <a:p>
            <a:r>
              <a:rPr sz="2200" b="0">
                <a:solidFill>
                  <a:srgbClr val="15353B"/>
                </a:solidFill>
                <a:latin typeface="Segoe UI"/>
              </a:rPr>
              <a:t>identificados; se mantienen los umbrales del semáforo.</a:t>
            </a:r>
          </a:p>
        </p:txBody>
      </p:sp>
      <p:sp>
        <p:nvSpPr>
          <p:cNvPr id="12" name="Capturas del escenario estatal de Quinta"/>
          <p:cNvSpPr txBox="1"/>
          <p:nvPr/>
        </p:nvSpPr>
        <p:spPr>
          <a:xfrm>
            <a:off x="502920" y="6419088"/>
            <a:ext cx="11155680" cy="277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Capturas del escenario estatal de Quintana Roo: cobertura 10%, efecto supuesto de 1.5 pp. No son el caso SMS.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Planes para las 32 entidades"/>
          <p:cNvSpPr txBox="1"/>
          <p:nvPr/>
        </p:nvSpPr>
        <p:spPr>
          <a:xfrm>
            <a:off x="502920" y="320040"/>
            <a:ext cx="11247120" cy="658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>
                <a:solidFill>
                  <a:srgbClr val="10685F"/>
                </a:solidFill>
                <a:latin typeface="Segoe UI"/>
              </a:rPr>
              <a:t>Planes para las 32 entidades</a:t>
            </a:r>
          </a:p>
        </p:txBody>
      </p:sp>
      <p:sp>
        <p:nvSpPr>
          <p:cNvPr id="4" name="Contexto + investigación mexicana"/>
          <p:cNvSpPr txBox="1"/>
          <p:nvPr/>
        </p:nvSpPr>
        <p:spPr>
          <a:xfrm>
            <a:off x="594360" y="1508760"/>
            <a:ext cx="5669280" cy="1007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800" b="1">
                <a:solidFill>
                  <a:srgbClr val="10685F"/>
                </a:solidFill>
                <a:latin typeface="Segoe UI"/>
              </a:rPr>
              <a:t>Contexto + investigación</a:t>
            </a:r>
          </a:p>
          <a:p>
            <a:r>
              <a:rPr sz="2800" b="1">
                <a:solidFill>
                  <a:srgbClr val="10685F"/>
                </a:solidFill>
                <a:latin typeface="Segoe UI"/>
              </a:rPr>
              <a:t>mexicana</a:t>
            </a:r>
          </a:p>
        </p:txBody>
      </p:sp>
      <p:sp>
        <p:nvSpPr>
          <p:cNvPr id="5" name="Estudios de participación y abstencionis"/>
          <p:cNvSpPr txBox="1"/>
          <p:nvPr/>
        </p:nvSpPr>
        <p:spPr>
          <a:xfrm>
            <a:off x="594360" y="2423160"/>
            <a:ext cx="5486400" cy="1261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0">
                <a:solidFill>
                  <a:srgbClr val="15353B"/>
                </a:solidFill>
                <a:latin typeface="Segoe UI"/>
              </a:rPr>
              <a:t>Estudios de participación y</a:t>
            </a:r>
          </a:p>
          <a:p>
            <a:r>
              <a:rPr sz="2400" b="0">
                <a:solidFill>
                  <a:srgbClr val="15353B"/>
                </a:solidFill>
                <a:latin typeface="Segoe UI"/>
              </a:rPr>
              <a:t>abstencionismo, ENCUCI y ENCÍVICA</a:t>
            </a:r>
          </a:p>
          <a:p>
            <a:r>
              <a:rPr sz="2400" b="0">
                <a:solidFill>
                  <a:srgbClr val="15353B"/>
                </a:solidFill>
                <a:latin typeface="Segoe UI"/>
              </a:rPr>
              <a:t>ayudan a orientar las propuestas.</a:t>
            </a:r>
          </a:p>
        </p:txBody>
      </p:sp>
      <p:sp>
        <p:nvSpPr>
          <p:cNvPr id="6" name="Cada plan reúne acciones, actores propue"/>
          <p:cNvSpPr txBox="1"/>
          <p:nvPr/>
        </p:nvSpPr>
        <p:spPr>
          <a:xfrm>
            <a:off x="594360" y="3794760"/>
            <a:ext cx="5486400" cy="880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400" b="0">
                <a:solidFill>
                  <a:srgbClr val="15353B"/>
                </a:solidFill>
                <a:latin typeface="Segoe UI"/>
              </a:rPr>
              <a:t>Cada plan reúne acciones, actores</a:t>
            </a:r>
          </a:p>
          <a:p>
            <a:r>
              <a:rPr sz="2400" b="0">
                <a:solidFill>
                  <a:srgbClr val="15353B"/>
                </a:solidFill>
                <a:latin typeface="Segoe UI"/>
              </a:rPr>
              <a:t>propuestos, indicadores y horizonte.</a:t>
            </a:r>
          </a:p>
        </p:txBody>
      </p:sp>
      <p:sp>
        <p:nvSpPr>
          <p:cNvPr id="7" name="Escenario ilustrativo: 10% de cobertura "/>
          <p:cNvSpPr txBox="1"/>
          <p:nvPr/>
        </p:nvSpPr>
        <p:spPr>
          <a:xfrm>
            <a:off x="594360" y="4937760"/>
            <a:ext cx="5486400" cy="8491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300" b="1">
                <a:solidFill>
                  <a:srgbClr val="15353B"/>
                </a:solidFill>
                <a:latin typeface="Segoe UI"/>
              </a:rPr>
              <a:t>Escenario ilustrativo: 10% de</a:t>
            </a:r>
          </a:p>
          <a:p>
            <a:r>
              <a:rPr sz="2300" b="1">
                <a:solidFill>
                  <a:srgbClr val="15353B"/>
                </a:solidFill>
                <a:latin typeface="Segoe UI"/>
              </a:rPr>
              <a:t>cobertura y 1.5 pp de efecto supuesto.</a:t>
            </a:r>
          </a:p>
        </p:txBody>
      </p:sp>
      <p:pic>
        <p:nvPicPr>
          <p:cNvPr id="8" name="Captura real de Umbral"/>
          <p:cNvPicPr>
            <a:picLocks noChangeAspect="1"/>
          </p:cNvPicPr>
          <p:nvPr/>
        </p:nvPicPr>
        <p:blipFill>
          <a:blip r:embed="rIdUmbral3"/>
          <a:srcRect b="75000"/>
          <a:stretch>
            <a:fillRect/>
          </a:stretch>
        </p:blipFill>
        <p:spPr>
          <a:xfrm>
            <a:off x="6718275" y="1371600"/>
            <a:ext cx="4760010" cy="4526280"/>
          </a:xfrm>
          <a:prstGeom prst="rect">
            <a:avLst/>
          </a:prstGeom>
        </p:spPr>
      </p:pic>
      <p:sp>
        <p:nvSpPr>
          <p:cNvPr id="9" name="Propuestas del proyecto; costos y operac"/>
          <p:cNvSpPr txBox="1"/>
          <p:nvPr/>
        </p:nvSpPr>
        <p:spPr>
          <a:xfrm>
            <a:off x="502920" y="6419088"/>
            <a:ext cx="11155680" cy="277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Propuestas del proyecto; costos y operación requieren acuerdo local. El 1.5 pp no es eficacia medida de los planes.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MS en Solidaridad: cobertura municipal"/>
          <p:cNvSpPr txBox="1"/>
          <p:nvPr/>
        </p:nvSpPr>
        <p:spPr>
          <a:xfrm>
            <a:off x="502920" y="320040"/>
            <a:ext cx="11247120" cy="658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>
                <a:solidFill>
                  <a:srgbClr val="10685F"/>
                </a:solidFill>
                <a:latin typeface="Segoe UI"/>
              </a:rPr>
              <a:t>SMS en Solidaridad: cobertura municipal</a:t>
            </a:r>
          </a:p>
        </p:txBody>
      </p:sp>
      <p:sp>
        <p:nvSpPr>
          <p:cNvPr id="4" name="SOLIDARIDAD · clave histórica 23008 · Qu"/>
          <p:cNvSpPr txBox="1"/>
          <p:nvPr/>
        </p:nvSpPr>
        <p:spPr>
          <a:xfrm>
            <a:off x="594360" y="1371600"/>
            <a:ext cx="10972800" cy="5157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500" b="1">
                <a:solidFill>
                  <a:srgbClr val="15353B"/>
                </a:solidFill>
                <a:latin typeface="Segoe UI"/>
              </a:rPr>
              <a:t>SOLIDARIDAD · clave histórica 23008 · Quintana Roo</a:t>
            </a:r>
          </a:p>
        </p:txBody>
      </p:sp>
      <p:sp>
        <p:nvSpPr>
          <p:cNvPr id="5" name="Población proyectada 2027: 437,681 habit"/>
          <p:cNvSpPr txBox="1"/>
          <p:nvPr/>
        </p:nvSpPr>
        <p:spPr>
          <a:xfrm>
            <a:off x="594360" y="1874520"/>
            <a:ext cx="10972800" cy="4681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>
                <a:solidFill>
                  <a:srgbClr val="15353B"/>
                </a:solidFill>
                <a:latin typeface="Segoe UI"/>
              </a:rPr>
              <a:t>Población proyectada 2027: 437,681 habitantes.</a:t>
            </a:r>
          </a:p>
        </p:txBody>
      </p:sp>
      <p:sp>
        <p:nvSpPr>
          <p:cNvPr id="6" name="Investigación en Suecia: recordatorios e"/>
          <p:cNvSpPr txBox="1"/>
          <p:nvPr/>
        </p:nvSpPr>
        <p:spPr>
          <a:xfrm>
            <a:off x="594360" y="2286000"/>
            <a:ext cx="10972800" cy="4522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100" b="0">
                <a:solidFill>
                  <a:srgbClr val="15353B"/>
                </a:solidFill>
                <a:latin typeface="Segoe UI"/>
              </a:rPr>
              <a:t>Investigación en Suecia: recordatorios electorales enviados por SMS.</a:t>
            </a:r>
          </a:p>
        </p:txBody>
      </p:sp>
      <p:sp>
        <p:nvSpPr>
          <p:cNvPr id="7" name="255,362"/>
          <p:cNvSpPr txBox="1"/>
          <p:nvPr/>
        </p:nvSpPr>
        <p:spPr>
          <a:xfrm>
            <a:off x="594360" y="2834640"/>
            <a:ext cx="3200400" cy="6903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600" b="1">
                <a:solidFill>
                  <a:srgbClr val="10685F"/>
                </a:solidFill>
                <a:latin typeface="Segoe UI"/>
              </a:rPr>
              <a:t>255,362</a:t>
            </a:r>
          </a:p>
        </p:txBody>
      </p:sp>
      <p:sp>
        <p:nvSpPr>
          <p:cNvPr id="8" name="Personas de la base electoral"/>
          <p:cNvSpPr txBox="1"/>
          <p:nvPr/>
        </p:nvSpPr>
        <p:spPr>
          <a:xfrm>
            <a:off x="594360" y="3611880"/>
            <a:ext cx="3200400" cy="753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000" b="0">
                <a:solidFill>
                  <a:srgbClr val="15353B"/>
                </a:solidFill>
                <a:latin typeface="Segoe UI"/>
              </a:rPr>
              <a:t>Personas de la base</a:t>
            </a:r>
          </a:p>
          <a:p>
            <a:r>
              <a:rPr sz="2000" b="0">
                <a:solidFill>
                  <a:srgbClr val="15353B"/>
                </a:solidFill>
                <a:latin typeface="Segoe UI"/>
              </a:rPr>
              <a:t>electoral</a:t>
            </a:r>
          </a:p>
        </p:txBody>
      </p:sp>
      <p:sp>
        <p:nvSpPr>
          <p:cNvPr id="9" name="0.30 pp"/>
          <p:cNvSpPr txBox="1"/>
          <p:nvPr/>
        </p:nvSpPr>
        <p:spPr>
          <a:xfrm>
            <a:off x="4480560" y="2834640"/>
            <a:ext cx="3200400" cy="6903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600" b="1">
                <a:solidFill>
                  <a:srgbClr val="10685F"/>
                </a:solidFill>
                <a:latin typeface="Segoe UI"/>
              </a:rPr>
              <a:t>0.30 pp</a:t>
            </a:r>
          </a:p>
        </p:txBody>
      </p:sp>
      <p:sp>
        <p:nvSpPr>
          <p:cNvPr id="10" name="Efecto publicado del recordatorio"/>
          <p:cNvSpPr txBox="1"/>
          <p:nvPr/>
        </p:nvSpPr>
        <p:spPr>
          <a:xfrm>
            <a:off x="4480560" y="3611880"/>
            <a:ext cx="3200400" cy="753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000" b="0">
                <a:solidFill>
                  <a:srgbClr val="15353B"/>
                </a:solidFill>
                <a:latin typeface="Segoe UI"/>
              </a:rPr>
              <a:t>Efecto publicado del</a:t>
            </a:r>
          </a:p>
          <a:p>
            <a:r>
              <a:rPr sz="2000" b="0">
                <a:solidFill>
                  <a:srgbClr val="15353B"/>
                </a:solidFill>
                <a:latin typeface="Segoe UI"/>
              </a:rPr>
              <a:t>recordatorio</a:t>
            </a:r>
          </a:p>
        </p:txBody>
      </p:sp>
      <p:sp>
        <p:nvSpPr>
          <p:cNvPr id="11" name="≈ 766 votos"/>
          <p:cNvSpPr txBox="1"/>
          <p:nvPr/>
        </p:nvSpPr>
        <p:spPr>
          <a:xfrm>
            <a:off x="8366760" y="2834640"/>
            <a:ext cx="3200400" cy="6903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600" b="1">
                <a:solidFill>
                  <a:srgbClr val="10685F"/>
                </a:solidFill>
                <a:latin typeface="Segoe UI"/>
              </a:rPr>
              <a:t>≈ 766 votos</a:t>
            </a:r>
          </a:p>
        </p:txBody>
      </p:sp>
      <p:sp>
        <p:nvSpPr>
          <p:cNvPr id="12" name="Adicionales hipotéticos"/>
          <p:cNvSpPr txBox="1"/>
          <p:nvPr/>
        </p:nvSpPr>
        <p:spPr>
          <a:xfrm>
            <a:off x="8366760" y="3611880"/>
            <a:ext cx="3200400" cy="4363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000" b="0">
                <a:solidFill>
                  <a:srgbClr val="15353B"/>
                </a:solidFill>
                <a:latin typeface="Segoe UI"/>
              </a:rPr>
              <a:t>Adicionales hipotéticos</a:t>
            </a:r>
          </a:p>
        </p:txBody>
      </p:sp>
      <p:sp>
        <p:nvSpPr>
          <p:cNvPr id="13" name="255,362 × 0.30 / 100 = 766.086"/>
          <p:cNvSpPr txBox="1"/>
          <p:nvPr/>
        </p:nvSpPr>
        <p:spPr>
          <a:xfrm>
            <a:off x="594360" y="4343400"/>
            <a:ext cx="10972800" cy="5792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900" b="1">
                <a:solidFill>
                  <a:srgbClr val="15353B"/>
                </a:solidFill>
                <a:latin typeface="Segoe UI"/>
              </a:rPr>
              <a:t>255,362 × 0.30 / 100 = 766.086</a:t>
            </a:r>
          </a:p>
        </p:txBody>
      </p:sp>
      <p:sp>
        <p:nvSpPr>
          <p:cNvPr id="14" name="La cobertura se limita a SV+NV 2024, no "/>
          <p:cNvSpPr txBox="1"/>
          <p:nvPr/>
        </p:nvSpPr>
        <p:spPr>
          <a:xfrm>
            <a:off x="594360" y="5166360"/>
            <a:ext cx="10972800" cy="8173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200" b="0">
                <a:solidFill>
                  <a:srgbClr val="15353B"/>
                </a:solidFill>
                <a:latin typeface="Segoe UI"/>
              </a:rPr>
              <a:t>La cobertura se limita a SV+NV 2024, no a todos los habitantes. Reducción municipal:</a:t>
            </a:r>
          </a:p>
          <a:p>
            <a:r>
              <a:rPr sz="2200" b="0">
                <a:solidFill>
                  <a:srgbClr val="15353B"/>
                </a:solidFill>
                <a:latin typeface="Segoe UI"/>
              </a:rPr>
              <a:t>0.30 pp, bajo el supuesto de cobertura total.</a:t>
            </a:r>
          </a:p>
        </p:txBody>
      </p:sp>
      <p:sp>
        <p:nvSpPr>
          <p:cNvPr id="15" name="Población: proyección CONAPO 2027. SMS: "/>
          <p:cNvSpPr txBox="1"/>
          <p:nvPr/>
        </p:nvSpPr>
        <p:spPr>
          <a:xfrm>
            <a:off x="502920" y="6419088"/>
            <a:ext cx="11155680" cy="277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Población: proyección CONAPO 2027. SMS: Lindgren et al. (2025), transferencia hipotética. Estabilidad top50: 4/6.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3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ferencias y documentos consultados"/>
          <p:cNvSpPr txBox="1"/>
          <p:nvPr/>
        </p:nvSpPr>
        <p:spPr>
          <a:xfrm>
            <a:off x="502920" y="320040"/>
            <a:ext cx="11247120" cy="658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3400" b="1">
                <a:solidFill>
                  <a:srgbClr val="10685F"/>
                </a:solidFill>
                <a:latin typeface="Segoe UI"/>
              </a:rPr>
              <a:t>Referencias y documentos consultados</a:t>
            </a:r>
          </a:p>
        </p:txBody>
      </p:sp>
      <p:sp>
        <p:nvSpPr>
          <p:cNvPr id="4" name="INE. Conteos Censales de Participación C"/>
          <p:cNvSpPr txBox="1"/>
          <p:nvPr/>
        </p:nvSpPr>
        <p:spPr>
          <a:xfrm>
            <a:off x="594360" y="1325880"/>
            <a:ext cx="5440680" cy="626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0">
                <a:solidFill>
                  <a:srgbClr val="15353B"/>
                </a:solidFill>
                <a:latin typeface="Segoe UI"/>
              </a:rPr>
              <a:t>INE. Conteos Censales de Participación Ciudadana</a:t>
            </a:r>
          </a:p>
          <a:p>
            <a:r>
              <a:rPr sz="1600" b="0">
                <a:solidFill>
                  <a:srgbClr val="15353B"/>
                </a:solidFill>
                <a:latin typeface="Segoe UI"/>
              </a:rPr>
              <a:t>2009–2024 y manual de campos.</a:t>
            </a:r>
          </a:p>
        </p:txBody>
      </p:sp>
      <p:sp>
        <p:nvSpPr>
          <p:cNvPr id="5" name="INE (2016). Estudio censal de participac"/>
          <p:cNvSpPr txBox="1"/>
          <p:nvPr/>
        </p:nvSpPr>
        <p:spPr>
          <a:xfrm>
            <a:off x="594360" y="2121408"/>
            <a:ext cx="5440680" cy="626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0">
                <a:solidFill>
                  <a:srgbClr val="15353B"/>
                </a:solidFill>
                <a:latin typeface="Segoe UI"/>
              </a:rPr>
              <a:t>INE (2016). Estudio censal de participación ciudadana:</a:t>
            </a:r>
          </a:p>
          <a:p>
            <a:r>
              <a:rPr sz="1600" b="0">
                <a:solidFill>
                  <a:srgbClr val="15353B"/>
                </a:solidFill>
                <a:latin typeface="Segoe UI"/>
              </a:rPr>
              <a:t>elecciones federales de 2015.</a:t>
            </a:r>
          </a:p>
        </p:txBody>
      </p:sp>
      <p:sp>
        <p:nvSpPr>
          <p:cNvPr id="6" name="INE (2024). Estudio muestral de particip"/>
          <p:cNvSpPr txBox="1"/>
          <p:nvPr/>
        </p:nvSpPr>
        <p:spPr>
          <a:xfrm>
            <a:off x="594360" y="2916936"/>
            <a:ext cx="5440680" cy="626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0">
                <a:solidFill>
                  <a:srgbClr val="15353B"/>
                </a:solidFill>
                <a:latin typeface="Segoe UI"/>
              </a:rPr>
              <a:t>INE (2024). Estudio muestral de participación ciudadana,</a:t>
            </a:r>
          </a:p>
          <a:p>
            <a:r>
              <a:rPr sz="1600" b="0">
                <a:solidFill>
                  <a:srgbClr val="15353B"/>
                </a:solidFill>
                <a:latin typeface="Segoe UI"/>
              </a:rPr>
              <a:t>proceso 2023–2024.</a:t>
            </a:r>
          </a:p>
        </p:txBody>
      </p:sp>
      <p:sp>
        <p:nvSpPr>
          <p:cNvPr id="7" name="INE / INEGI (2021). ENCUCI 2020: present"/>
          <p:cNvSpPr txBox="1"/>
          <p:nvPr/>
        </p:nvSpPr>
        <p:spPr>
          <a:xfrm>
            <a:off x="594360" y="3712464"/>
            <a:ext cx="5440680" cy="372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0">
                <a:solidFill>
                  <a:srgbClr val="15353B"/>
                </a:solidFill>
                <a:latin typeface="Segoe UI"/>
              </a:rPr>
              <a:t>INE / INEGI (2021). ENCUCI 2020: presentación ejecutiva.</a:t>
            </a:r>
          </a:p>
        </p:txBody>
      </p:sp>
      <p:sp>
        <p:nvSpPr>
          <p:cNvPr id="8" name="INE (2026). Acuerdo INE/CG61/2026. Imple"/>
          <p:cNvSpPr txBox="1"/>
          <p:nvPr/>
        </p:nvSpPr>
        <p:spPr>
          <a:xfrm>
            <a:off x="594360" y="4507992"/>
            <a:ext cx="5440680" cy="626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0">
                <a:solidFill>
                  <a:srgbClr val="15353B"/>
                </a:solidFill>
                <a:latin typeface="Segoe UI"/>
              </a:rPr>
              <a:t>INE (2026). Acuerdo INE/CG61/2026. Implementación de</a:t>
            </a:r>
          </a:p>
          <a:p>
            <a:r>
              <a:rPr sz="1600" b="0">
                <a:solidFill>
                  <a:srgbClr val="15353B"/>
                </a:solidFill>
                <a:latin typeface="Segoe UI"/>
              </a:rPr>
              <a:t>ENCÍVICA 2024–2026.</a:t>
            </a:r>
          </a:p>
        </p:txBody>
      </p:sp>
      <p:sp>
        <p:nvSpPr>
          <p:cNvPr id="9" name="CONAPO. Proyecciones municipales: poblac"/>
          <p:cNvSpPr txBox="1"/>
          <p:nvPr/>
        </p:nvSpPr>
        <p:spPr>
          <a:xfrm>
            <a:off x="594360" y="5303520"/>
            <a:ext cx="5440680" cy="626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0">
                <a:solidFill>
                  <a:srgbClr val="15353B"/>
                </a:solidFill>
                <a:latin typeface="Segoe UI"/>
              </a:rPr>
              <a:t>CONAPO. Proyecciones municipales: población a mitad de</a:t>
            </a:r>
          </a:p>
          <a:p>
            <a:r>
              <a:rPr sz="1600" b="0">
                <a:solidFill>
                  <a:srgbClr val="15353B"/>
                </a:solidFill>
                <a:latin typeface="Segoe UI"/>
              </a:rPr>
              <a:t>año, Solidaridad 2027.</a:t>
            </a:r>
          </a:p>
        </p:txBody>
      </p:sp>
      <p:sp>
        <p:nvSpPr>
          <p:cNvPr id="10" name="IFE. Informe preliminar sobre abstencion"/>
          <p:cNvSpPr txBox="1"/>
          <p:nvPr/>
        </p:nvSpPr>
        <p:spPr>
          <a:xfrm>
            <a:off x="6355080" y="1325880"/>
            <a:ext cx="5440680" cy="626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0">
                <a:solidFill>
                  <a:srgbClr val="15353B"/>
                </a:solidFill>
                <a:latin typeface="Segoe UI"/>
              </a:rPr>
              <a:t>IFE. Informe preliminar sobre abstencionismo en México.</a:t>
            </a:r>
          </a:p>
          <a:p>
            <a:r>
              <a:rPr sz="1600" b="0">
                <a:solidFill>
                  <a:srgbClr val="15353B"/>
                </a:solidFill>
                <a:latin typeface="Segoe UI"/>
              </a:rPr>
              <a:t>González Rodríguez (2024): tesis sobre juventudes y redes.</a:t>
            </a:r>
          </a:p>
        </p:txBody>
      </p:sp>
      <p:sp>
        <p:nvSpPr>
          <p:cNvPr id="11" name="Central Electoral. Presentan en Durango "/>
          <p:cNvSpPr txBox="1"/>
          <p:nvPr/>
        </p:nvSpPr>
        <p:spPr>
          <a:xfrm>
            <a:off x="6355080" y="2121408"/>
            <a:ext cx="5440680" cy="880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0">
                <a:solidFill>
                  <a:srgbClr val="15353B"/>
                </a:solidFill>
                <a:latin typeface="Segoe UI"/>
              </a:rPr>
              <a:t>Central Electoral. Presentan en Durango investigación</a:t>
            </a:r>
          </a:p>
          <a:p>
            <a:r>
              <a:rPr sz="1600" b="0">
                <a:solidFill>
                  <a:srgbClr val="15353B"/>
                </a:solidFill>
                <a:latin typeface="Segoe UI"/>
              </a:rPr>
              <a:t>sobre participación política y electoral de las juventudes en</a:t>
            </a:r>
          </a:p>
          <a:p>
            <a:r>
              <a:rPr sz="1600" b="0">
                <a:solidFill>
                  <a:srgbClr val="15353B"/>
                </a:solidFill>
                <a:latin typeface="Segoe UI"/>
              </a:rPr>
              <a:t>México.</a:t>
            </a:r>
          </a:p>
        </p:txBody>
      </p:sp>
      <p:sp>
        <p:nvSpPr>
          <p:cNvPr id="12" name="Lindgren, Nyman y Oskarsson (2025). SMS,"/>
          <p:cNvSpPr txBox="1"/>
          <p:nvPr/>
        </p:nvSpPr>
        <p:spPr>
          <a:xfrm>
            <a:off x="6355080" y="2916936"/>
            <a:ext cx="5440680" cy="626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0">
                <a:solidFill>
                  <a:srgbClr val="15353B"/>
                </a:solidFill>
                <a:latin typeface="Segoe UI"/>
              </a:rPr>
              <a:t>Lindgren, Nyman y Oskarsson (2025). SMS, Suecia. DOI:</a:t>
            </a:r>
          </a:p>
          <a:p>
            <a:r>
              <a:rPr sz="1600" b="0">
                <a:solidFill>
                  <a:srgbClr val="15353B"/>
                </a:solidFill>
                <a:latin typeface="Segoe UI"/>
              </a:rPr>
              <a:t>10.1017/S0007123424000504.</a:t>
            </a:r>
          </a:p>
        </p:txBody>
      </p:sp>
      <p:sp>
        <p:nvSpPr>
          <p:cNvPr id="13" name="Haenschen, Mann y DeMora (2026). SMS, EE"/>
          <p:cNvSpPr txBox="1"/>
          <p:nvPr/>
        </p:nvSpPr>
        <p:spPr>
          <a:xfrm>
            <a:off x="6355080" y="3712464"/>
            <a:ext cx="5440680" cy="626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0">
                <a:solidFill>
                  <a:srgbClr val="15353B"/>
                </a:solidFill>
                <a:latin typeface="Segoe UI"/>
              </a:rPr>
              <a:t>Haenschen, Mann y DeMora (2026). SMS, EEUU. DOI:</a:t>
            </a:r>
          </a:p>
          <a:p>
            <a:r>
              <a:rPr sz="1600" b="0">
                <a:solidFill>
                  <a:srgbClr val="15353B"/>
                </a:solidFill>
                <a:latin typeface="Segoe UI"/>
              </a:rPr>
              <a:t>10.1007/s11109-026-10121-2.</a:t>
            </a:r>
          </a:p>
        </p:txBody>
      </p:sp>
      <p:sp>
        <p:nvSpPr>
          <p:cNvPr id="14" name="Nickerson y Rogers (2010). Plan de voto "/>
          <p:cNvSpPr txBox="1"/>
          <p:nvPr/>
        </p:nvSpPr>
        <p:spPr>
          <a:xfrm>
            <a:off x="6355080" y="4507992"/>
            <a:ext cx="5440680" cy="626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0">
                <a:solidFill>
                  <a:srgbClr val="15353B"/>
                </a:solidFill>
                <a:latin typeface="Segoe UI"/>
              </a:rPr>
              <a:t>Nickerson y Rogers (2010). Plan de voto por llamada. DOI:</a:t>
            </a:r>
          </a:p>
          <a:p>
            <a:r>
              <a:rPr sz="1600" b="0">
                <a:solidFill>
                  <a:srgbClr val="15353B"/>
                </a:solidFill>
                <a:latin typeface="Segoe UI"/>
              </a:rPr>
              <a:t>10.1177/0956797609359326.</a:t>
            </a:r>
          </a:p>
        </p:txBody>
      </p:sp>
      <p:sp>
        <p:nvSpPr>
          <p:cNvPr id="15" name="aguas.exe (2026). Reporte Umbral, protoc"/>
          <p:cNvSpPr txBox="1"/>
          <p:nvPr/>
        </p:nvSpPr>
        <p:spPr>
          <a:xfrm>
            <a:off x="6355080" y="5303520"/>
            <a:ext cx="5440680" cy="880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0">
                <a:solidFill>
                  <a:srgbClr val="15353B"/>
                </a:solidFill>
                <a:latin typeface="Segoe UI"/>
              </a:rPr>
              <a:t>aguas.exe (2026). Reporte Umbral, protocolo, comparación</a:t>
            </a:r>
          </a:p>
          <a:p>
            <a:r>
              <a:rPr sz="1600" b="0">
                <a:solidFill>
                  <a:srgbClr val="15353B"/>
                </a:solidFill>
                <a:latin typeface="Segoe UI"/>
              </a:rPr>
              <a:t>de modelos y planes estatales. Repositorio:</a:t>
            </a:r>
          </a:p>
          <a:p>
            <a:r>
              <a:rPr sz="1600" b="0">
                <a:solidFill>
                  <a:srgbClr val="15353B"/>
                </a:solidFill>
                <a:latin typeface="Segoe UI"/>
              </a:rPr>
              <a:t>Donatelatrump/Ine_Hackaton_2026.</a:t>
            </a:r>
          </a:p>
        </p:txBody>
      </p:sp>
      <p:sp>
        <p:nvSpPr>
          <p:cNvPr id="16" name="Copias de las fuentes mexicanas en Info_"/>
          <p:cNvSpPr txBox="1"/>
          <p:nvPr/>
        </p:nvSpPr>
        <p:spPr>
          <a:xfrm>
            <a:off x="502920" y="6419088"/>
            <a:ext cx="11155680" cy="2776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000" b="0">
                <a:solidFill>
                  <a:srgbClr val="587177"/>
                </a:solidFill>
                <a:latin typeface="Segoe UI"/>
              </a:rPr>
              <a:t>Copias de las fuentes mexicanas en Info_extra/ del ZIP. Referencias completas y rutas en las notas y en el reporte.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