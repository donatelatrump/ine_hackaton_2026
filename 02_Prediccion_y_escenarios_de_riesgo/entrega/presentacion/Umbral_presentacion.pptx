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Datos agregados CCPC 2009–2024. Prototipo para revisión institucional.</a:t>
            </a:r>
          </a:p>
          <a:p>
            <a:r>
              <a:t>Fuentes primarias: https://ine.mx/transparencia/datos-abiertos/visualizacion-datos/conteos-censales-participacion/</a:t>
            </a:r>
          </a:p>
          <a:p>
            <a:r>
              <a:t>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convocatoria INE, pp. 3–5. https://ine.mx/wp-content/uploads/2026/09/Convocatoria_Hackaton-1.pdf</a:t>
            </a:r>
          </a:p>
          <a:p>
            <a:r>
              <a:t>Fuentes primarias: https://ine.mx/transparencia/datos-abiertos/visualizacion-datos/conteos-censales-participacion/</a:t>
            </a:r>
          </a:p>
          <a:p>
            <a:r>
              <a:t>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auditoría y base municipal del proyecto. CCPC: https://ine.mx/transparencia/datos-abiertos/visualizacion-datos/conteos-censales-participacion/</a:t>
            </a:r>
          </a:p>
          <a:p>
            <a:r>
              <a:t>Fuentes primarias: https://ine.mx/transparencia/datos-abiertos/visualizacion-datos/conteos-censales-participacion/</a:t>
            </a:r>
          </a:p>
          <a:p>
            <a:r>
              <a:t>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Fuente: modelado/METODOLOGIA.md y modelado/salidas/metricas.json. No hay ajuste para mejorar 2024.</a:t>
            </a:r>
          </a:p>
          <a:p>
            <a:r>
              <a:t>Fuentes primarias: https://ine.mx/transparencia/datos-abiertos/visualizacion-datos/conteos-censales-participacion/</a:t>
            </a:r>
          </a:p>
          <a:p>
            <a:r>
              <a:t>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MAE en puntos porcentuales. Ponderación por SV+NV observado del objetivo. Top50 dentro de cada cohorte evaluable.</a:t>
            </a:r>
          </a:p>
          <a:p>
            <a:r>
              <a:t>Fuentes primarias: https://ine.mx/transparencia/datos-abiertos/visualizacion-datos/conteos-censales-participacion/</a:t>
            </a:r>
          </a:p>
          <a:p>
            <a:r>
              <a:t>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Capturas de la demo corregida. El escenario es hipotético, sin efecto causal demostrado ni población 2027 proyectada.</a:t>
            </a:r>
          </a:p>
          <a:p>
            <a:r>
              <a:t>Fuentes primarias: https://ine.mx/transparencia/datos-abiertos/visualizacion-datos/conteos-censales-participacion/</a:t>
            </a:r>
          </a:p>
          <a:p>
            <a:r>
              <a:t>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Dos métodos × NS 5/10/20: frecuencia topN y concordancia describen estabilidad. No expresan confianza calibrada.</a:t>
            </a:r>
          </a:p>
          <a:p>
            <a:r>
              <a:t>Fuentes primarias: https://ine.mx/transparencia/datos-abiertos/visualizacion-datos/conteos-censales-participacion/</a:t>
            </a:r>
          </a:p>
          <a:p>
            <a:r>
              <a:t>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proximidad del score no demuestra equivalencia. El prototipo no acredita impacto causal ni un diseño RDD.</a:t>
            </a:r>
          </a:p>
          <a:p>
            <a:r>
              <a:t>Fuentes primarias: https://ine.mx/transparencia/datos-abiertos/visualizacion-datos/conteos-censales-participacion/</a:t>
            </a:r>
          </a:p>
          <a:p>
            <a:r>
              <a:t>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Límites: pocas ocasiones electorales, cohortes filtradas y armonización territorial pendiente.</a:t>
            </a:r>
          </a:p>
          <a:p>
            <a:r>
              <a:t>Fuentes primarias: https://ine.mx/transparencia/datos-abiertos/visualizacion-datos/conteos-censales-participacion/</a:t>
            </a:r>
          </a:p>
          <a:p>
            <a:r>
              <a:t>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2024 es presidencial y no valida directamente 2027. No se promete superioridad predictiva o efectividad preventiva.</a:t>
            </a:r>
          </a:p>
          <a:p>
            <a:r>
              <a:t>Fuentes primarias: https://ine.mx/transparencia/datos-abiertos/visualizacion-datos/conteos-censales-participacion/</a:t>
            </a:r>
          </a:p>
          <a:p>
            <a:r>
              <a:t>Convocatoria: https://ine.mx/wp-content/uploads/2026/09/Convocatoria_Hackaton-1.pdf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0685F"/>
                </a:solidFill>
                <a:latin typeface="Segoe UI"/>
              </a:defRPr>
            </a:pPr>
            <a:r>
              <a:t>UMBRAL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4400" b="1">
                <a:solidFill>
                  <a:srgbClr val="10685F"/>
                </a:solidFill>
                <a:latin typeface="Segoe UI"/>
              </a:defRPr>
            </a:pPr>
            <a:r>
              <a:t>UMBRAL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37744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800" b="1">
                <a:solidFill>
                  <a:srgbClr val="10685F"/>
                </a:solidFill>
                <a:latin typeface="Segoe UI"/>
              </a:defRPr>
            </a:pPr>
            <a:r>
              <a:t>Atlas de decisión municipal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01244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0">
                <a:solidFill>
                  <a:srgbClr val="15353B"/>
                </a:solidFill>
                <a:latin typeface="Segoe UI"/>
              </a:defRPr>
            </a:pPr>
            <a:r>
              <a:t>Predicción exploratoria y escenarios de abstención para 2027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554475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5353B"/>
                </a:solidFill>
                <a:latin typeface="Segoe UI"/>
              </a:defRPr>
            </a:pPr>
            <a:r>
              <a:t>Tecnocalidos · Hackathon INE 2026 · Track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34535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0">
                <a:solidFill>
                  <a:srgbClr val="15353B"/>
                </a:solidFill>
                <a:latin typeface="Segoe UI"/>
              </a:defRPr>
            </a:pPr>
            <a:r>
              <a:t>Martin Isai Nuñez Villeda y Cesar Donnet Hernandez Gastelum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499101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700" b="0">
                <a:solidFill>
                  <a:srgbClr val="15353B"/>
                </a:solidFill>
                <a:latin typeface="Segoe UI"/>
              </a:defRPr>
            </a:pPr>
            <a:r>
              <a:t>Versión técnica · 5 de octubre de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87177"/>
                </a:solidFill>
                <a:latin typeface="Segoe UI"/>
              </a:defRPr>
            </a:pPr>
            <a:r>
              <a:t>Datos agregados CCPC 2009–2024. Prototipo para revisión institucional.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0685F"/>
                </a:solidFill>
                <a:latin typeface="Segoe UI"/>
              </a:defRPr>
            </a:pPr>
            <a:r>
              <a:t>UMBRAL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15353B"/>
                </a:solidFill>
                <a:latin typeface="Segoe UI"/>
              </a:defRPr>
            </a:pPr>
            <a:r>
              <a:t>Una capacidad de 50 municipios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0685F"/>
                </a:solidFill>
                <a:latin typeface="Segoe UI"/>
              </a:defRPr>
            </a:pPr>
            <a:r>
              <a:t>La decisión inicial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538983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0">
                <a:solidFill>
                  <a:srgbClr val="15353B"/>
                </a:solidFill>
                <a:latin typeface="Segoe UI"/>
              </a:defRPr>
            </a:pPr>
            <a:r>
              <a:t>Un área de educación cívica puede revisar 50 municipios. Umbral ordena antecedentes, calidad y supuestos para preparar un plan de atención.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21887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0">
                <a:solidFill>
                  <a:srgbClr val="15353B"/>
                </a:solidFill>
                <a:latin typeface="Segoe UI"/>
              </a:defRPr>
            </a:pPr>
            <a:r>
              <a:t>La persona usuaria elige entidad, capacidad y criterio de prioridad. Revisa cada municipio antes de exportar la lista.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30479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800" b="0">
                <a:solidFill>
                  <a:srgbClr val="15353B"/>
                </a:solidFill>
                <a:latin typeface="Segoe UI"/>
              </a:defRPr>
            </a:pPr>
            <a:r>
              <a:t>50 es una capacidad propuesta y editable.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87177"/>
                </a:solidFill>
                <a:latin typeface="Segoe UI"/>
              </a:defRPr>
            </a:pPr>
            <a:r>
              <a:t>Fuente: convocatoria INE, pp. 3–5. https://ine.mx/wp-content/uploads/2026/09/Convocatoria_Hackaton-1.pdf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0685F"/>
                </a:solidFill>
                <a:latin typeface="Segoe UI"/>
              </a:defRPr>
            </a:pPr>
            <a:r>
              <a:t>UMBRAL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15353B"/>
                </a:solidFill>
                <a:latin typeface="Segoe UI"/>
              </a:defRPr>
            </a:pPr>
            <a:r>
              <a:t>Cobertura y calidad visibles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10881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600" b="1">
                <a:solidFill>
                  <a:srgbClr val="10685F"/>
                </a:solidFill>
                <a:latin typeface="Segoe UI"/>
              </a:defRPr>
            </a:pPr>
            <a:r>
              <a:t>1,783 con estimación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72491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0685F"/>
                </a:solidFill>
                <a:latin typeface="Segoe UI"/>
              </a:defRPr>
            </a:pPr>
            <a:r>
              <a:t>694 sin estimación · 2,477 claves históricas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297936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0685F"/>
                </a:solidFill>
                <a:latin typeface="Segoe UI"/>
              </a:defRPr>
            </a:pPr>
            <a:r>
              <a:t>Abstención observada = 100 × NV / (SV + NV)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870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15353B"/>
                </a:solidFill>
                <a:latin typeface="Segoe UI"/>
              </a:defRPr>
            </a:pPr>
            <a:r>
              <a:t>NS identifica participación no especificada. La regla principal exige NS ≤10% en ambos antecedentes relevantes.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691888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15353B"/>
                </a:solidFill>
                <a:latin typeface="Segoe UI"/>
              </a:defRPr>
            </a:pPr>
            <a:r>
              <a:t>El catálogo constante orienta la revisión territorial. Falta comprobar equivalencia de límites históricos.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87177"/>
                </a:solidFill>
                <a:latin typeface="Segoe UI"/>
              </a:defRPr>
            </a:pPr>
            <a:r>
              <a:t>Fuente: auditoría y base municipal del proyecto. CCPC: https://ine.mx/transparencia/datos-abiertos/visualizacion-datos/conteos-censales-participacion/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0685F"/>
                </a:solidFill>
                <a:latin typeface="Segoe UI"/>
              </a:defRPr>
            </a:pPr>
            <a:r>
              <a:t>UMBRAL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15353B"/>
                </a:solidFill>
                <a:latin typeface="Segoe UI"/>
              </a:defRPr>
            </a:pPr>
            <a:r>
              <a:t>La referencia también compite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0685F"/>
                </a:solidFill>
                <a:latin typeface="Segoe UI"/>
              </a:defRPr>
            </a:pPr>
            <a:r>
              <a:t>Referencia: última elección del mismo tipo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538983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0">
                <a:solidFill>
                  <a:srgbClr val="15353B"/>
                </a:solidFill>
                <a:latin typeface="Segoe UI"/>
              </a:defRPr>
            </a:pPr>
            <a:r>
              <a:t>Para 2027 usa 2021. Ridge estima un ajuste con historia electoral, edad agregada, urbanización y calidad.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21887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0">
                <a:solidFill>
                  <a:srgbClr val="15353B"/>
                </a:solidFill>
                <a:latin typeface="Segoe UI"/>
              </a:defRPr>
            </a:pPr>
            <a:r>
              <a:t>Alpha = 10 permanece congelado. Cada corte aprende con resultados anteriores al año objetivo.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30479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15353B"/>
                </a:solidFill>
                <a:latin typeface="Segoe UI"/>
              </a:defRPr>
            </a:pPr>
            <a:r>
              <a:t>2021 seleccionó el método. Ese corte no es una prueba independiente posterior a la selección.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87177"/>
                </a:solidFill>
                <a:latin typeface="Segoe UI"/>
              </a:defRPr>
            </a:pPr>
            <a:r>
              <a:t>Fuente: modelado/METODOLOGIA.md y modelado/salidas/metricas.json. No hay ajuste para mejorar 2024.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0685F"/>
                </a:solidFill>
                <a:latin typeface="Segoe UI"/>
              </a:defRPr>
            </a:pPr>
            <a:r>
              <a:t>UMBRAL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15353B"/>
                </a:solidFill>
                <a:latin typeface="Segoe UI"/>
              </a:defRPr>
            </a:pPr>
            <a:r>
              <a:t>Ridge mejora en 2021 y empeora en 2024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94360" y="1828800"/>
          <a:ext cx="1097280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1828800"/>
                <a:gridCol w="1828800"/>
                <a:gridCol w="1828800"/>
                <a:gridCol w="1828800"/>
              </a:tblGrid>
              <a:tr h="475488"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Corte / método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n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MAE (pp)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Ponderado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1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Top50</a:t>
                      </a:r>
                    </a:p>
                  </a:txBody>
                  <a:tcPr>
                    <a:solidFill>
                      <a:srgbClr val="E5EEE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2021 · Referencia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1,490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12.12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8.05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16/50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2021 · Ridge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1,490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9.21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5.49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19/50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2024 · Referencia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1,476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5.64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3.54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27/50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2024 · Ridge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1,476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8.58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4.49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2000" b="0">
                          <a:solidFill>
                            <a:srgbClr val="15353B"/>
                          </a:solidFill>
                          <a:latin typeface="Segoe UI"/>
                        </a:defRPr>
                      </a:pPr>
                      <a:r>
                        <a:t>27/50</a:t>
                      </a:r>
                    </a:p>
                  </a:txBody>
                  <a:tcPr>
                    <a:solidFill>
                      <a:srgbClr val="F3F6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526280"/>
            <a:ext cx="10972800" cy="46050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10685F"/>
                </a:solidFill>
                <a:latin typeface="Segoe UI"/>
              </a:defRPr>
            </a:pPr>
            <a:r>
              <a:t>La evidencia no demuestra superioridad consistente.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5120640"/>
            <a:ext cx="10972800" cy="69291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15353B"/>
                </a:solidFill>
                <a:latin typeface="Segoe UI"/>
              </a:defRPr>
            </a:pPr>
            <a:r>
              <a:t>Spearman referencia / Ridge: 0.485 / 0.599 en 2021 y 0.827 / 0.811 en 2024. Análisis posterior, sin reajuste del modelo.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87177"/>
                </a:solidFill>
                <a:latin typeface="Segoe UI"/>
              </a:defRPr>
            </a:pPr>
            <a:r>
              <a:t>MAE en puntos porcentuales. Ponderación por SV+NV observado del objetivo. Top50 dentro de cada cohorte evaluable.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0685F"/>
                </a:solidFill>
                <a:latin typeface="Segoe UI"/>
              </a:defRPr>
            </a:pPr>
            <a:r>
              <a:t>UMBRAL · 06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15353B"/>
                </a:solidFill>
                <a:latin typeface="Segoe UI"/>
              </a:defRPr>
            </a:pPr>
            <a:r>
              <a:t>Mapa y escenario sobre los mismos territorios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828800"/>
            <a:ext cx="5394960" cy="414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10685F"/>
                </a:solidFill>
                <a:latin typeface="Segoe UI"/>
              </a:defRPr>
            </a:pPr>
            <a:r>
              <a:t>Con intervención hipotética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63640" y="1828800"/>
            <a:ext cx="5303520" cy="4140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10685F"/>
                </a:solidFill>
                <a:latin typeface="Segoe UI"/>
              </a:defRPr>
            </a:pPr>
            <a:r>
              <a:t>Diferencia respecto a la base</a:t>
            </a:r>
          </a:p>
        </p:txBody>
      </p:sp>
      <p:pic>
        <p:nvPicPr>
          <p:cNvPr id="6" name="Picture 5" descr="mapa_interven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331720"/>
            <a:ext cx="5349240" cy="3378467"/>
          </a:xfrm>
          <a:prstGeom prst="rect">
            <a:avLst/>
          </a:prstGeom>
        </p:spPr>
      </p:pic>
      <p:pic>
        <p:nvPicPr>
          <p:cNvPr id="7" name="Picture 6" descr="mapa_camb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2331720"/>
            <a:ext cx="5349240" cy="337846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" y="5715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600" b="0">
                <a:solidFill>
                  <a:srgbClr val="15353B"/>
                </a:solidFill>
                <a:latin typeface="Segoe UI"/>
              </a:defRPr>
            </a:pPr>
            <a:r>
              <a:t>Mismos territorios y umbrales base fijos. Cobertura y ponderación: SV+NV observado 2024. NS se informa por separado.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87177"/>
                </a:solidFill>
                <a:latin typeface="Segoe UI"/>
              </a:defRPr>
            </a:pPr>
            <a:r>
              <a:t>Capturas de la demo corregida. El escenario es hipotético, sin efecto causal demostrado ni población 2027 proyectada.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0685F"/>
                </a:solidFill>
                <a:latin typeface="Segoe UI"/>
              </a:defRPr>
            </a:pPr>
            <a:r>
              <a:t>UMBRAL · 07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15353B"/>
                </a:solidFill>
                <a:latin typeface="Segoe UI"/>
              </a:defRPr>
            </a:pPr>
            <a:r>
              <a:t>La prioridad depende del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0685F"/>
                </a:solidFill>
                <a:latin typeface="Segoe UI"/>
              </a:defRPr>
            </a:pPr>
            <a:r>
              <a:t>Tasa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538983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15353B"/>
                </a:solidFill>
                <a:latin typeface="Segoe UI"/>
              </a:defRPr>
            </a:pPr>
            <a:r>
              <a:t>Revisa municipios con mayor abstención estimada.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65525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0685F"/>
                </a:solidFill>
                <a:latin typeface="Segoe UI"/>
              </a:defRPr>
            </a:pPr>
            <a:r>
              <a:t>Volumen sobre observados 2024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638549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15353B"/>
                </a:solidFill>
                <a:latin typeface="Segoe UI"/>
              </a:defRPr>
            </a:pPr>
            <a:r>
              <a:t>Revisa dónde la tasa implica más abstenciones en la base observable.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165091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400" b="1">
                <a:solidFill>
                  <a:srgbClr val="10685F"/>
                </a:solidFill>
                <a:latin typeface="Segoe UI"/>
              </a:defRPr>
            </a:pPr>
            <a:r>
              <a:t>Deterioro respecto al mismo tipo electoral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4738116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15353B"/>
                </a:solidFill>
                <a:latin typeface="Segoe UI"/>
              </a:defRPr>
            </a:pPr>
            <a:r>
              <a:t>Revisa el aumento estimado frente al antecedente comparable.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87177"/>
                </a:solidFill>
                <a:latin typeface="Segoe UI"/>
              </a:defRPr>
            </a:pPr>
            <a:r>
              <a:t>Dos métodos × NS 5/10/20: frecuencia topN y concordancia describen estabilidad. No expresan confianza calibrada.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0685F"/>
                </a:solidFill>
                <a:latin typeface="Segoe UI"/>
              </a:defRPr>
            </a:pPr>
            <a:r>
              <a:t>UMBRAL · 08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15353B"/>
                </a:solidFill>
                <a:latin typeface="Segoe UI"/>
              </a:defRPr>
            </a:pPr>
            <a:r>
              <a:t>Prevención con una ficha verificable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0685F"/>
                </a:solidFill>
                <a:latin typeface="Segoe UI"/>
              </a:defRPr>
            </a:pPr>
            <a:r>
              <a:t>Cada municipio necesita una propuesta revisable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569971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0">
                <a:solidFill>
                  <a:srgbClr val="15353B"/>
                </a:solidFill>
                <a:latin typeface="Segoe UI"/>
              </a:defRPr>
            </a:pPr>
            <a:r>
              <a:t>La ficha relaciona antecedentes observables con una acción de información electoral accesible o educación cívica.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52875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0">
                <a:solidFill>
                  <a:srgbClr val="15353B"/>
                </a:solidFill>
                <a:latin typeface="Segoe UI"/>
              </a:defRPr>
            </a:pPr>
            <a:r>
              <a:t>Registra responsable propuesto, personas alcanzadas, condiciones de aplicación y medición. El mecanismo esperado es una hipótesis.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33578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000" b="0">
                <a:solidFill>
                  <a:srgbClr val="15353B"/>
                </a:solidFill>
                <a:latin typeface="Segoe UI"/>
              </a:defRPr>
            </a:pPr>
            <a:r>
              <a:t>Piloto propuesto: asignación aleatoria dentro de un conjunto elegible y balanceado alrededor del corte. Medir cobertura y participación.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87177"/>
                </a:solidFill>
                <a:latin typeface="Segoe UI"/>
              </a:defRPr>
            </a:pPr>
            <a:r>
              <a:t>La proximidad del score no demuestra equivalencia. El prototipo no acredita impacto causal ni un diseño RDD.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0685F"/>
                </a:solidFill>
                <a:latin typeface="Segoe UI"/>
              </a:defRPr>
            </a:pPr>
            <a:r>
              <a:t>UMBRAL · 09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15353B"/>
                </a:solidFill>
                <a:latin typeface="Segoe UI"/>
              </a:defRPr>
            </a:pPr>
            <a:r>
              <a:t>Uso institucional con revisión humana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500" b="1">
                <a:solidFill>
                  <a:srgbClr val="10685F"/>
                </a:solidFill>
                <a:latin typeface="Segoe UI"/>
              </a:defRPr>
            </a:pPr>
            <a:r>
              <a:t>La vista por entidad resume capacidad y cobertura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554477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0">
                <a:solidFill>
                  <a:srgbClr val="15353B"/>
                </a:solidFill>
                <a:latin typeface="Segoe UI"/>
              </a:defRPr>
            </a:pPr>
            <a:r>
              <a:t>El área usuaria revisa calidad, concordancia de listas y viabilidad del alcance. La exportación conserva los supuestos de cada decisión.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37381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0">
                <a:solidFill>
                  <a:srgbClr val="15353B"/>
                </a:solidFill>
                <a:latin typeface="Segoe UI"/>
              </a:defRPr>
            </a:pPr>
            <a:r>
              <a:t>Las claves municipales permiten trazabilidad. Sin correspondencia verificada, el producto no atribuye municipios a distritos.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320286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100" b="0">
                <a:solidFill>
                  <a:srgbClr val="15353B"/>
                </a:solidFill>
                <a:latin typeface="Segoe UI"/>
              </a:defRPr>
            </a:pPr>
            <a:r>
              <a:t>La demo local y los datos agregados permiten inspección sin dependencias remotas.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87177"/>
                </a:solidFill>
                <a:latin typeface="Segoe UI"/>
              </a:defRPr>
            </a:pPr>
            <a:r>
              <a:t>Límites: pocas ocasiones electorales, cohortes filtradas y armonización territorial pendiente.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6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32004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200" b="1">
                <a:solidFill>
                  <a:srgbClr val="10685F"/>
                </a:solidFill>
                <a:latin typeface="Segoe UI"/>
              </a:defRPr>
            </a:pPr>
            <a:r>
              <a:t>UMBRAL ·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822960"/>
            <a:ext cx="109728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3200" b="1">
                <a:solidFill>
                  <a:srgbClr val="15353B"/>
                </a:solidFill>
                <a:latin typeface="Segoe UI"/>
              </a:defRPr>
            </a:pPr>
            <a:r>
              <a:t>Siguiente decisión: un piloto acotado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965960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0685F"/>
                </a:solidFill>
                <a:latin typeface="Segoe UI"/>
              </a:defRPr>
            </a:pPr>
            <a:r>
              <a:t>Validación con el área usuaria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569971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0">
                <a:solidFill>
                  <a:srgbClr val="15353B"/>
                </a:solidFill>
                <a:latin typeface="Segoe UI"/>
              </a:defRPr>
            </a:pPr>
            <a:r>
              <a:t>Acordar objetivo de priorización, capacidad real y protocolo de revisión territorial. Elegir acciones con cobertura que pueda medirse.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52875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600" b="1">
                <a:solidFill>
                  <a:srgbClr val="10685F"/>
                </a:solidFill>
                <a:latin typeface="Segoe UI"/>
              </a:defRPr>
            </a:pPr>
            <a:r>
              <a:t>Evaluación antes de ampliar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056888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0">
                <a:solidFill>
                  <a:srgbClr val="15353B"/>
                </a:solidFill>
                <a:latin typeface="Segoe UI"/>
              </a:defRPr>
            </a:pPr>
            <a:r>
              <a:t>Predefinir indicadores y asignación del piloto. Conservar la referencia y publicar resultados favorables y adversos.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939792"/>
            <a:ext cx="1088136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900" b="0">
                <a:solidFill>
                  <a:srgbClr val="15353B"/>
                </a:solidFill>
                <a:latin typeface="Segoe UI"/>
              </a:defRPr>
            </a:pPr>
            <a:r>
              <a:t>Equipo: Tecnocalidos. Firmas, registro y envío formal siguen pendientes.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6245352"/>
            <a:ext cx="108813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000" b="0">
                <a:solidFill>
                  <a:srgbClr val="587177"/>
                </a:solidFill>
                <a:latin typeface="Segoe UI"/>
              </a:defRPr>
            </a:pPr>
            <a:r>
              <a:t>2024 es presidencial y no valida directamente 2027. No se promete superioridad predictiva o efectividad preventiva.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