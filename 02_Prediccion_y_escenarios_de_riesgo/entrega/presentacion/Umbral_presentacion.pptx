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Datos agregados CCPC 2009–2024. Prototipo para revisión institucional.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Guía: demo/DEMO6.md. Cartografía municipal y complemento insular INEGI 2025.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Fuente: auditoría y base municipal del proyecto. CCPC: https://ine.mx/transparencia/datos-abiertos/visualizacion-datos/conteos-censales-participacion/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Fuente: modelado/PROTOCOLO_COMPARACION_4_MODELOS.md y salidas/comparacion_modelos/resultados.json.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Media de 2021/2024 con igual peso por elección. Referencia adicional: MAE 8.88 pp. No valida 2027.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DOI: 10.1017/S0007123424000504; 10.1007/s11109-026-10121-2; 10.1177/0956797609359326. Traslado a México: supuesto.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Demo6. Umbrales nacionales por año y método; fijos entre escenarios.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Fuente: entrega/caso_municipal.json. Modelo seleccionado del benchmark. SV+NV 2024: 255,362. DOI 10.1017/S0007123424000504.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Caso completo: entrega/CASO_MUNICIPAL.md. Guion y demo de tres pasos: entrega/GUION_PRESENTACION.md.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2024 es presidencial y no valida directamente 2027. No se promete superioridad predictiva o efectividad preventiva. Fuentes primarias: https://ine.mx/transparencia/datos-abiertos/visualizacion-datos/conteos-censales-participacion/ Convocatoria: https://ine.mx/wp-content/uploads/2026/09/Convocatoria_Hackaton-1.pdf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01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754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10685F"/>
                </a:solidFill>
                <a:latin typeface="Segoe UI"/>
              </a:rPr>
              <a:t>UMBRAL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2377440"/>
            <a:ext cx="10881360" cy="506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685F"/>
                </a:solidFill>
                <a:latin typeface="Segoe UI"/>
              </a:rPr>
              <a:t>Atlas de decisión municipal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3012440"/>
            <a:ext cx="10881360" cy="414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Revisión territorial con evidencia, capacidad y supuestos visibles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554476"/>
            <a:ext cx="10881360" cy="3520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15353B"/>
                </a:solidFill>
                <a:latin typeface="Segoe UI"/>
              </a:rPr>
              <a:t>aguas.exe · Hackathon INE 2026 · Track 2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4034536"/>
            <a:ext cx="10881360" cy="336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5353B"/>
                </a:solidFill>
                <a:latin typeface="Segoe UI"/>
              </a:rPr>
              <a:t>Martin Isai Nuñez Villeda y Cesar Donnet Hernandez Gastelum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4499102"/>
            <a:ext cx="10881360" cy="336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5353B"/>
                </a:solidFill>
                <a:latin typeface="Segoe UI"/>
              </a:rPr>
              <a:t>Versión técnica · 16 de octubre de 2026</a:t>
            </a:r>
          </a:p>
        </p:txBody>
      </p:sp>
      <p:sp>
        <p:nvSpPr>
          <p:cNvPr id="10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Datos agregados CCPC 2009–2024. Prototipo para revisión institucional.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02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Consulta territorial en demo6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1965960"/>
            <a:ext cx="10881360" cy="475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0685F"/>
                </a:solidFill>
                <a:latin typeface="Segoe UI"/>
              </a:rPr>
              <a:t>Municipio, estado o país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2569972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Un mismo año y método para el mapa, el resumen y la ficha. Los históricos muestran resultados observados y 2027 una proyección diferenciada.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421888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Gráfica temporal y comparación con el promedio estatal, ponderados por personas con dato de voto.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4273804"/>
            <a:ext cx="10881360" cy="3985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La consulta completa se descarga en CSV, aunque no se configure una intervención.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Guía: demo/DEMO6.md. Cartografía municipal y complemento insular INEGI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03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Cobertura y calidad visibles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1965960"/>
            <a:ext cx="108813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10685F"/>
                </a:solidFill>
                <a:latin typeface="Segoe UI"/>
              </a:rPr>
              <a:t>1,783 con estimación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2724912"/>
            <a:ext cx="10881360" cy="445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0685F"/>
                </a:solidFill>
                <a:latin typeface="Segoe UI"/>
              </a:rPr>
              <a:t>694 sin estimación · 2,477 claves históricas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297936"/>
            <a:ext cx="10881360" cy="445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0685F"/>
                </a:solidFill>
                <a:latin typeface="Segoe UI"/>
              </a:rPr>
              <a:t>Abstención observada = 100 × NV / (SV + NV)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3870960"/>
            <a:ext cx="10881360" cy="69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5353B"/>
                </a:solidFill>
                <a:latin typeface="Segoe UI"/>
              </a:rPr>
              <a:t>NS identifica participación no especificada. La regla principal exige NS ≤10% en ambos antecedentes relevantes.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4691888"/>
            <a:ext cx="10881360" cy="69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5353B"/>
                </a:solidFill>
                <a:latin typeface="Segoe UI"/>
              </a:rPr>
              <a:t>El catálogo constante orienta la revisión territorial. Falta comprobar equivalencia de límites históricos.</a:t>
            </a:r>
          </a:p>
        </p:txBody>
      </p:sp>
      <p:sp>
        <p:nvSpPr>
          <p:cNvPr id="10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Fuente: auditoría y base municipal del proyecto. CCPC: https://ine.mx/transparencia/datos-abiertos/visualizacion-datos/conteos-censales-participacion/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04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Cuatro modelos, una comparación temporal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1965960"/>
            <a:ext cx="10881360" cy="4605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0685F"/>
                </a:solidFill>
                <a:latin typeface="Segoe UI"/>
              </a:rPr>
              <a:t>Misma cohorte y 15 variables históricas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2554478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Ridge, HistGradientBoosting, LightGBM y CatBoost aprenden el residual respecto a la referencia homóloga.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406394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Los parámetros se eligen con años anteriores al corte evaluado. Sin parada temprana sobre 2021 o 2024.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4258310"/>
            <a:ext cx="10881360" cy="3985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Protocolo previo, cuatro configuraciones por familia, semilla 42 y un hilo de CPU.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Fuente: modelado/PROTOCOLO_COMPARACION_4_MODELOS.md y salidas/comparacion_modelos/resultados.json.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05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HistGradientBoosting seleccionado</a:t>
            </a:r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594360" y="18288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MAE medio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Ponderado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Top50 medio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Ajustar ms</a:t>
                      </a:r>
                    </a:p>
                  </a:txBody>
                  <a:tcPr>
                    <a:solidFill>
                      <a:srgbClr val="E5EE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6.84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4.67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20.0/50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199.6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6.83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4.84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21.0/50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126.6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CatBoost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6.91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4.67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20.5/50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1045.2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9.01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5.22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20.0/50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5353B"/>
                          </a:solidFill>
                          <a:latin typeface="Segoe UI"/>
                        </a:defRPr>
                      </a:pPr>
                      <a:r>
                        <a:t>12.8</a:t>
                      </a:r>
                    </a:p>
                  </a:txBody>
                  <a:tcPr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  <p:sp>
        <p:nvSpPr>
          <p:cNvPr id="6" name="Texto editable"/>
          <p:cNvSpPr txBox="1"/>
          <p:nvPr/>
        </p:nvSpPr>
        <p:spPr>
          <a:xfrm>
            <a:off x="594360" y="4526280"/>
            <a:ext cx="10972800" cy="4605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0685F"/>
                </a:solidFill>
                <a:latin typeface="Segoe UI"/>
              </a:rPr>
              <a:t>MAE medio 24.1% menor que Ridge.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5120640"/>
            <a:ext cx="10972800" cy="69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5353B"/>
                </a:solidFill>
                <a:latin typeface="Segoe UI"/>
              </a:rPr>
              <a:t>Empate de MAE con tolerancia 0.05 pp; gana por error ponderado. Ridge es el más rápido. Selección retrospectiva.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Media de 2021/2024 con igual peso por elección. Referencia adicional: MAE 8.88 pp. No valida 2027.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06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Evidencia externa y escenario territorial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1965960"/>
            <a:ext cx="10881360" cy="4605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0685F"/>
                </a:solidFill>
                <a:latin typeface="Segoe UI"/>
              </a:rPr>
              <a:t>Acción y coeficiente publicado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2554478"/>
            <a:ext cx="10881360" cy="69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5353B"/>
                </a:solidFill>
                <a:latin typeface="Segoe UI"/>
              </a:rPr>
              <a:t>SMS Suecia: +0.30 pp ITT, intervalo 0.13–0.48. SMS EEUU: +0.25 pp ITT, intervalo 0.17–0.34. Llamada: +4.1 pp ATT, error estándar 1.7.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375406"/>
            <a:ext cx="10881360" cy="10492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Votos adicionales hipotéticos = cobertura × coeficiente / 100, limitados por abstención esperada entre cubiertos. El coeficiente ya mide cambio en participación, sin otra tasa de respuesta.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4552696"/>
            <a:ext cx="10881360" cy="692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5353B"/>
                </a:solidFill>
                <a:latin typeface="Segoe UI"/>
              </a:rPr>
              <a:t>La comparación conserva todo el territorio estimable, incluso municipios sin atención. Umbrales base fijos y ponderación SV+NV 2024.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DOI: 10.1017/S0007123424000504; 10.1007/s11109-026-10121-2; 10.1177/0956797609359326. Traslado a México: supuesto.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07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Una ficha para entender la selección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1965960"/>
            <a:ext cx="10881360" cy="4605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0685F"/>
                </a:solidFill>
                <a:latin typeface="Segoe UI"/>
              </a:rPr>
              <a:t>Resultados observados y proyección diferenciados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2554478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Serie temporal 2009–2024 con 2027 separado visualmente. Faltantes visibles y cobertura declarada.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406394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Brecha municipal frente al estado con el mismo método y denominador. Las diferencias agregadas no identifican causas.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4258310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Métricas reales y coeficientes Ridge disponibles. Los coeficientes no son efectos causales ni explicaciones individuales.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Demo6. Umbrales nacionales por año y método; fijos entre escenarios.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08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Caso 23008: SMS con traslado hipotético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1965960"/>
            <a:ext cx="10881360" cy="445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0685F"/>
                </a:solidFill>
                <a:latin typeface="Segoe UI"/>
              </a:rPr>
              <a:t>SOLIDARIDAD · catálogo histórico de Quintana Roo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2538984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HistGradientBoosting, puesto 9; referencia 3. Base 61.636222%. Frecuencia nacional top50 4/6.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390900"/>
            <a:ext cx="10881360" cy="754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1,000 personas asignadas a SMS Suecia: 3 votos adicionales hipotéticos; rango externo 1.3–4.8.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4273804"/>
            <a:ext cx="10881360" cy="3985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Posterior 61.635048%. Reducción 0.001175 pp. Traslado a México sujeto a evaluación.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Fuente: entrega/caso_municipal.json. Modelo seleccionado del benchmark. SV+NV 2024: 255,362. DOI 10.1017/S0007123424000504.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09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De la ficha a un plan verificable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1965960"/>
            <a:ext cx="10881360" cy="4605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10685F"/>
                </a:solidFill>
                <a:latin typeface="Segoe UI"/>
              </a:rPr>
              <a:t>Recursos, condiciones y medición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2554478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Exportar territorio, acción y cita, cobertura total, distribución, supuestos y estabilidad del plan actual.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406394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Registrar alcance único agregado, horas y conocimiento previo/posterior. El perfil por edad describe grupos agregados y no demuestra barreras.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4258310"/>
            <a:ext cx="1088136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Validar límites, sedes y atribuciones. Un efecto sobre participación requiere evaluación comparativa y protocolo previo.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Caso completo: entrega/CASO_MUNICIPAL.md. Guion y demo de tres pasos: entrega/GUION_PRESENTACION.md.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o editable"/>
          <p:cNvSpPr txBox="1"/>
          <p:nvPr/>
        </p:nvSpPr>
        <p:spPr>
          <a:xfrm>
            <a:off x="594360" y="320040"/>
            <a:ext cx="10972800" cy="25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0685F"/>
                </a:solidFill>
                <a:latin typeface="Segoe UI"/>
              </a:rPr>
              <a:t>UMBRAL · 10</a:t>
            </a:r>
          </a:p>
        </p:txBody>
      </p:sp>
      <p:sp>
        <p:nvSpPr>
          <p:cNvPr id="4" name="Texto editable"/>
          <p:cNvSpPr txBox="1"/>
          <p:nvPr/>
        </p:nvSpPr>
        <p:spPr>
          <a:xfrm>
            <a:off x="594360" y="822960"/>
            <a:ext cx="10972800" cy="56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5353B"/>
                </a:solidFill>
                <a:latin typeface="Segoe UI"/>
              </a:rPr>
              <a:t>Siguiente decisión: un piloto acotado</a:t>
            </a:r>
          </a:p>
        </p:txBody>
      </p:sp>
      <p:sp>
        <p:nvSpPr>
          <p:cNvPr id="5" name="Texto editable"/>
          <p:cNvSpPr txBox="1"/>
          <p:nvPr/>
        </p:nvSpPr>
        <p:spPr>
          <a:xfrm>
            <a:off x="594360" y="1965960"/>
            <a:ext cx="10881360" cy="475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0685F"/>
                </a:solidFill>
                <a:latin typeface="Segoe UI"/>
              </a:rPr>
              <a:t>Validación con el área usuaria</a:t>
            </a:r>
          </a:p>
        </p:txBody>
      </p:sp>
      <p:sp>
        <p:nvSpPr>
          <p:cNvPr id="6" name="Texto editable"/>
          <p:cNvSpPr txBox="1"/>
          <p:nvPr/>
        </p:nvSpPr>
        <p:spPr>
          <a:xfrm>
            <a:off x="594360" y="2569972"/>
            <a:ext cx="10881360" cy="754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Acordar objetivo de priorización, capacidad real y protocolo de revisión territorial. Elegir acciones con cobertura que pueda medirse.</a:t>
            </a:r>
          </a:p>
        </p:txBody>
      </p:sp>
      <p:sp>
        <p:nvSpPr>
          <p:cNvPr id="7" name="Texto editable"/>
          <p:cNvSpPr txBox="1"/>
          <p:nvPr/>
        </p:nvSpPr>
        <p:spPr>
          <a:xfrm>
            <a:off x="594360" y="3452876"/>
            <a:ext cx="10881360" cy="475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0685F"/>
                </a:solidFill>
                <a:latin typeface="Segoe UI"/>
              </a:rPr>
              <a:t>Evaluación antes de ampliar</a:t>
            </a:r>
          </a:p>
        </p:txBody>
      </p:sp>
      <p:sp>
        <p:nvSpPr>
          <p:cNvPr id="8" name="Texto editable"/>
          <p:cNvSpPr txBox="1"/>
          <p:nvPr/>
        </p:nvSpPr>
        <p:spPr>
          <a:xfrm>
            <a:off x="594360" y="4056888"/>
            <a:ext cx="10881360" cy="754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Predefinir indicadores y asignación del piloto. Conservar la referencia y publicar resultados favorables y adversos.</a:t>
            </a:r>
          </a:p>
        </p:txBody>
      </p:sp>
      <p:sp>
        <p:nvSpPr>
          <p:cNvPr id="9" name="Texto editable"/>
          <p:cNvSpPr txBox="1"/>
          <p:nvPr/>
        </p:nvSpPr>
        <p:spPr>
          <a:xfrm>
            <a:off x="594360" y="4939792"/>
            <a:ext cx="10881360" cy="3675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15353B"/>
                </a:solidFill>
                <a:latin typeface="Segoe UI"/>
              </a:rPr>
              <a:t>Equipo: aguas.exe. Firmas, registro y envío formal siguen pendientes.</a:t>
            </a:r>
          </a:p>
        </p:txBody>
      </p:sp>
      <p:sp>
        <p:nvSpPr>
          <p:cNvPr id="10" name="Texto editable"/>
          <p:cNvSpPr txBox="1"/>
          <p:nvPr/>
        </p:nvSpPr>
        <p:spPr>
          <a:xfrm>
            <a:off x="594360" y="6245352"/>
            <a:ext cx="10881360" cy="228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2024 es presidencial y no valida directamente 2027. No se promete superioridad predictiva o efectividad preventiva.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