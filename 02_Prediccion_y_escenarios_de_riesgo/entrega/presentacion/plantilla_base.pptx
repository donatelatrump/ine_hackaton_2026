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Datos agregados CCPC 2009–2024. Prototipo para revisión institucional.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convocatoria INE, pp. 3–5. https://ine.mx/wp-content/uploads/2026/09/Convocatoria_Hackaton-1.pdf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auditoría y base municipal del proyecto. CCPC: https://ine.mx/transparencia/datos-abiertos/visualizacion-datos/conteos-censales-participacion/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modelado/METODOLOGIA.md y modelado/salidas/metricas.json. No hay ajuste para mejorar 2024.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MAE en puntos porcentuales. Ponderación por SV+NV observado del objetivo. Top50 dentro de cada cohorte evaluable.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Capturas de la demo corregida. El escenario es hipotético, sin efecto causal demostrado ni población 2027 proyectada.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Frecuencia descriptiva, no probabilidad de acierto. La frontera orienta revisión y propuesta de piloto.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Configuración nacional: catálogo constante, tasa, Ridge, 50 municipios, estabilidad Todas. Base SV+NV 2024: 255,362.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completo: entrega/CASO_MUNICIPAL.md. Guion y demo de tres pasos: entrega/GUION_PRESENTACION.md.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2024 es presidencial y no valida directamente 2027. No se promete superioridad predictiva o efectividad preventiva.</a:t>
            </a:r>
          </a:p>
          <a:p>
            <a:r>
              <a:t>Fuentes primarias: https://ine.mx/transparencia/datos-abiertos/visualizacion-datos/conteos-censales-participacion/</a:t>
            </a:r>
          </a:p>
          <a:p>
            <a:r>
              <a:t>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10685F"/>
                </a:solidFill>
                <a:latin typeface="Segoe UI"/>
              </a:defRPr>
            </a:pPr>
            <a:r>
              <a:t>UMBRAL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774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685F"/>
                </a:solidFill>
                <a:latin typeface="Segoe UI"/>
              </a:defRPr>
            </a:pPr>
            <a:r>
              <a:t>Atlas de decisión municipal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1244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15353B"/>
                </a:solidFill>
                <a:latin typeface="Segoe UI"/>
              </a:defRPr>
            </a:pPr>
            <a:r>
              <a:t>Revisión territorial con evidencia, capacidad y supuestos visibles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54475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5353B"/>
                </a:solidFill>
                <a:latin typeface="Segoe UI"/>
              </a:defRPr>
            </a:pPr>
            <a:r>
              <a:t>Tecnocalidos · Hackathon INE 2026 · Track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34535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15353B"/>
                </a:solidFill>
                <a:latin typeface="Segoe UI"/>
              </a:defRPr>
            </a:pPr>
            <a:r>
              <a:t>Martin Isai Nuñez Villeda y Cesar Donnet Hernandez Gastelum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99101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15353B"/>
                </a:solidFill>
                <a:latin typeface="Segoe UI"/>
              </a:defRPr>
            </a:pPr>
            <a:r>
              <a:t>Versión técnica · 6 de octubre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Datos agregados CCPC 2009–2024. Prototipo para revisión institucional.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Una capacidad de 50 municipios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685F"/>
                </a:solidFill>
                <a:latin typeface="Segoe UI"/>
              </a:defRPr>
            </a:pPr>
            <a:r>
              <a:t>La decisión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38983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15353B"/>
                </a:solidFill>
                <a:latin typeface="Segoe UI"/>
              </a:defRPr>
            </a:pPr>
            <a:r>
              <a:t>Un área de educación cívica puede revisar 50 municipios. Umbral ordena antecedentes, calidad y supuestos para preparar un plan de atención.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21887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15353B"/>
                </a:solidFill>
                <a:latin typeface="Segoe UI"/>
              </a:defRPr>
            </a:pPr>
            <a:r>
              <a:t>La persona usuaria elige entidad, capacidad y criterio de prioridad. Revisa cada municipio antes de exportar la lista.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0479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5353B"/>
                </a:solidFill>
                <a:latin typeface="Segoe UI"/>
              </a:defRPr>
            </a:pPr>
            <a:r>
              <a:t>50 es una capacidad propuesta y editable.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Fuente: convocatoria INE, pp. 3–5. https://ine.mx/wp-content/uploads/2026/09/Convocatoria_Hackaton-1.pdf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Cobertura y calidad visibles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0685F"/>
                </a:solidFill>
                <a:latin typeface="Segoe UI"/>
              </a:defRPr>
            </a:pPr>
            <a:r>
              <a:t>1,783 con estimación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2491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685F"/>
                </a:solidFill>
                <a:latin typeface="Segoe UI"/>
              </a:defRPr>
            </a:pPr>
            <a:r>
              <a:t>694 sin estimación · 2,477 claves históricas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97936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685F"/>
                </a:solidFill>
                <a:latin typeface="Segoe UI"/>
              </a:defRPr>
            </a:pPr>
            <a:r>
              <a:t>Abstención observada = 100 × NV / (SV + NV)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70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15353B"/>
                </a:solidFill>
                <a:latin typeface="Segoe UI"/>
              </a:defRPr>
            </a:pPr>
            <a:r>
              <a:t>NS identifica participación no especificada. La regla principal exige NS ≤10% en ambos antecedentes relevantes.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69188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15353B"/>
                </a:solidFill>
                <a:latin typeface="Segoe UI"/>
              </a:defRPr>
            </a:pPr>
            <a:r>
              <a:t>El catálogo constante orienta la revisión territorial. Falta comprobar equivalencia de límites históricos.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Fuente: auditoría y base municipal del proyecto. CCPC: https://ine.mx/transparencia/datos-abiertos/visualizacion-datos/conteos-censales-participacion/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La referencia también compite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685F"/>
                </a:solidFill>
                <a:latin typeface="Segoe UI"/>
              </a:defRPr>
            </a:pPr>
            <a:r>
              <a:t>Referencia: última elección del mismo 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38983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15353B"/>
                </a:solidFill>
                <a:latin typeface="Segoe UI"/>
              </a:defRPr>
            </a:pPr>
            <a:r>
              <a:t>Para 2027 usa 2021. Ridge estima un ajuste con historia electoral, edad agregada, urbanización y calidad.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21887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15353B"/>
                </a:solidFill>
                <a:latin typeface="Segoe UI"/>
              </a:defRPr>
            </a:pPr>
            <a:r>
              <a:t>Alpha = 10 permanece congelado. Cada corte aprende con resultados anteriores al año objetivo.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0479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15353B"/>
                </a:solidFill>
                <a:latin typeface="Segoe UI"/>
              </a:defRPr>
            </a:pPr>
            <a:r>
              <a:t>2021 seleccionó el método. Ese corte no es una prueba independiente posterior a la selección.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Fuente: modelado/METODOLOGIA.md y modelado/salidas/metricas.json. No hay ajuste para mejorar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Ridge mejora en 2021 y empeora en 2024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8288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Corte / método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MAE (pp)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Ponderado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Top50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2021 · Referencia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1,490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12.12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8.05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16/50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2021 · Ridge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1,490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9.21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5.49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19/50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2024 · Referencia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1,476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5.64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3.54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27/50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2024 · Ridge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1,476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8.58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4.49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27/50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526280"/>
            <a:ext cx="10972800" cy="4605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0685F"/>
                </a:solidFill>
                <a:latin typeface="Segoe UI"/>
              </a:defRPr>
            </a:pPr>
            <a:r>
              <a:t>La evidencia no demuestra superioridad consistente.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0"/>
            <a:ext cx="10972800" cy="6929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15353B"/>
                </a:solidFill>
                <a:latin typeface="Segoe UI"/>
              </a:defRPr>
            </a:pPr>
            <a:r>
              <a:t>Spearman referencia / Ridge: 0.485 / 0.599 en 2021 y 0.827 / 0.811 en 2024. Análisis posterior, sin reajuste del modelo.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MAE en puntos porcentuales. Ponderación por SV+NV observado del objetivo. Top50 dentro de cada cohorte evaluable.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Mapa y escenario sobre los mismos territorios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5394960" cy="414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0685F"/>
                </a:solidFill>
                <a:latin typeface="Segoe UI"/>
              </a:defRPr>
            </a:pPr>
            <a:r>
              <a:t>Con intervención hipotética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828800"/>
            <a:ext cx="5303520" cy="414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0685F"/>
                </a:solidFill>
                <a:latin typeface="Segoe UI"/>
              </a:defRPr>
            </a:pPr>
            <a:r>
              <a:t>Diferencia respecto a la base</a:t>
            </a:r>
          </a:p>
        </p:txBody>
      </p:sp>
      <p:pic>
        <p:nvPicPr>
          <p:cNvPr id="6" name="Picture 5" descr="mapa_interven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31720"/>
            <a:ext cx="5349240" cy="3248125"/>
          </a:xfrm>
          <a:prstGeom prst="rect">
            <a:avLst/>
          </a:prstGeom>
        </p:spPr>
      </p:pic>
      <p:pic>
        <p:nvPicPr>
          <p:cNvPr id="7" name="Picture 6" descr="mapa_camb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31720"/>
            <a:ext cx="5349240" cy="324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15353B"/>
                </a:solidFill>
                <a:latin typeface="Segoe UI"/>
              </a:defRPr>
            </a:pPr>
            <a:r>
              <a:t>Mismos territorios y umbrales base fijos. Cobertura y ponderación: SV+NV observado 2024. NS se informa por separado.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Capturas de la demo corregida. El escenario es hipotético, sin efecto causal demostrado ni población 2027 proyectada.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Una ficha para revisar cada prioridad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0685F"/>
                </a:solidFill>
                <a:latin typeface="Segoe UI"/>
              </a:defRPr>
            </a:pPr>
            <a:r>
              <a:t>¿Por qué este municipio?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69971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5353B"/>
                </a:solidFill>
                <a:latin typeface="Segoe UI"/>
              </a:defRPr>
            </a:pPr>
            <a:r>
              <a:t>Puesto, antecedentes, calidad NS y acuerdo entre referencia y Ridge. Perfil CCPC por grupos como capa descriptiva separada.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21887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15353B"/>
                </a:solidFill>
                <a:latin typeface="Segoe UI"/>
              </a:defRPr>
            </a:pPr>
            <a:r>
              <a:t>Estabilidad de selección: dos métodos × NS 5/10/20.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63924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5353B"/>
                </a:solidFill>
                <a:latin typeface="Segoe UI"/>
              </a:defRPr>
            </a:pPr>
            <a:r>
              <a:t>6/6: núcleo robusto; 1/6–5/6: zona de revisión. Elegibilidad aparte. Las variantes comparten datos y pueden equivocarse juntas.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Frecuencia descriptiva, no probabilidad de acierto. La frontera orienta revisión y propuesta de piloto.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Caso 23008: prioridad que requiere revisión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685F"/>
                </a:solidFill>
                <a:latin typeface="Segoe UI"/>
              </a:defRPr>
            </a:pPr>
            <a:r>
              <a:t>SOLIDARIDAD · catálogo histórico de Quintana Roo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38983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5353B"/>
                </a:solidFill>
                <a:latin typeface="Segoe UI"/>
              </a:defRPr>
            </a:pPr>
            <a:r>
              <a:t>Puesto Ridge 1; referencia 3. Estimación exploratoria 62.11%. Estabilidad 4/6: NS 2021 de 9.60% excluye variantes NS ≤5%.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90899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5353B"/>
                </a:solidFill>
                <a:latin typeface="Segoe UI"/>
              </a:defRPr>
            </a:pPr>
            <a:r>
              <a:t>Acción propuesta: talleres abiertos sobre requisitos y procedimiento. Educación cívica y junta local; sedes y capacidad por validar.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242816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5353B"/>
                </a:solidFill>
                <a:latin typeface="Segoe UI"/>
              </a:defRPr>
            </a:pPr>
            <a:r>
              <a:t>1,000 alcanzados y respuesta supuesta 25%: 155.27 adicionales hipotéticos; 62.11% → 62.05%. Permanece alto.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Configuración nacional: catálogo constante, tasa, Ridge, 50 municipios, estabilidad Todas. Base SV+NV 2024: 255,362.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De la ficha a un plan verificable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0685F"/>
                </a:solidFill>
                <a:latin typeface="Segoe UI"/>
              </a:defRPr>
            </a:pPr>
            <a:r>
              <a:t>Recursos, condiciones y medición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54477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5353B"/>
                </a:solidFill>
                <a:latin typeface="Segoe UI"/>
              </a:defRPr>
            </a:pPr>
            <a:r>
              <a:t>Exportar acción, responsable propuesto, alcance, supuestos y estabilidad. Capacidad por municipios o por personas alcanzables.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06393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5353B"/>
                </a:solidFill>
                <a:latin typeface="Segoe UI"/>
              </a:defRPr>
            </a:pPr>
            <a:r>
              <a:t>Registrar alcance único agregado, horas y conocimiento previo/posterior. El perfil joven orienta canales; no demuestra barreras.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25831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5353B"/>
                </a:solidFill>
                <a:latin typeface="Segoe UI"/>
              </a:defRPr>
            </a:pPr>
            <a:r>
              <a:t>Validar límites, sedes y atribuciones. Un efecto sobre participación requiere evaluación comparativa y protocolo previo.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Caso completo: entrega/CASO_MUNICIPAL.md. Guion y demo de tres pasos: entrega/GUION_PRESENTACION.md.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685F"/>
                </a:solidFill>
                <a:latin typeface="Segoe UI"/>
              </a:defRPr>
            </a:pPr>
            <a:r>
              <a:t>UMBRAL ·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5353B"/>
                </a:solidFill>
                <a:latin typeface="Segoe UI"/>
              </a:defRPr>
            </a:pPr>
            <a:r>
              <a:t>Siguiente decisión: un piloto acotado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0685F"/>
                </a:solidFill>
                <a:latin typeface="Segoe UI"/>
              </a:defRPr>
            </a:pPr>
            <a:r>
              <a:t>Validación con el área usuaria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69971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15353B"/>
                </a:solidFill>
                <a:latin typeface="Segoe UI"/>
              </a:defRPr>
            </a:pPr>
            <a:r>
              <a:t>Acordar objetivo de priorización, capacidad real y protocolo de revisión territorial. Elegir acciones con cobertura que pueda medirse.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52875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0685F"/>
                </a:solidFill>
                <a:latin typeface="Segoe UI"/>
              </a:defRPr>
            </a:pPr>
            <a:r>
              <a:t>Evaluación antes de ampliar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5688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15353B"/>
                </a:solidFill>
                <a:latin typeface="Segoe UI"/>
              </a:defRPr>
            </a:pPr>
            <a:r>
              <a:t>Predefinir indicadores y asignación del piloto. Conservar la referencia y publicar resultados favorables y adversos.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93979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15353B"/>
                </a:solidFill>
                <a:latin typeface="Segoe UI"/>
              </a:defRPr>
            </a:pPr>
            <a:r>
              <a:t>Equipo: Tecnocalidos. Firmas, registro y envío formal siguen pendientes.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453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87177"/>
                </a:solidFill>
                <a:latin typeface="Segoe UI"/>
              </a:defRPr>
            </a:pPr>
            <a:r>
              <a:t>2024 es presidencial y no valida directamente 2027. No se promete superioridad predictiva o efectividad preventiva.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